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p:scale>
          <a:sx n="125" d="100"/>
          <a:sy n="125" d="100"/>
        </p:scale>
        <p:origin x="1144"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1846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www.mathworks.com/help/signal/ug/practical-introduction-to-frequency-domain-analysis.html" TargetMode="External"/><Relationship Id="rId4" Type="http://schemas.openxmlformats.org/officeDocument/2006/relationships/hyperlink" Target="https://www.embs.org/pulse/articles/highlights-in-the-history-of-the-fourier-transfor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52000" cy="5148000"/>
          </a:xfrm>
          <a:prstGeom prst="rect">
            <a:avLst/>
          </a:prstGeom>
        </p:spPr>
      </p:pic>
      <p:sp>
        <p:nvSpPr>
          <p:cNvPr id="3" name="Shape 0"/>
          <p:cNvSpPr/>
          <p:nvPr/>
        </p:nvSpPr>
        <p:spPr>
          <a:xfrm>
            <a:off x="0" y="258618"/>
            <a:ext cx="5303509" cy="5143500"/>
          </a:xfrm>
          <a:prstGeom prst="rect">
            <a:avLst/>
          </a:prstGeom>
          <a:solidFill>
            <a:srgbClr val="000000">
              <a:alpha val="0"/>
            </a:srgbClr>
          </a:solidFill>
          <a:ln/>
        </p:spPr>
      </p:sp>
      <p:sp>
        <p:nvSpPr>
          <p:cNvPr id="4" name="Shape 1"/>
          <p:cNvSpPr/>
          <p:nvPr/>
        </p:nvSpPr>
        <p:spPr>
          <a:xfrm>
            <a:off x="5296365" y="0"/>
            <a:ext cx="7144" cy="5143500"/>
          </a:xfrm>
          <a:prstGeom prst="rect">
            <a:avLst/>
          </a:prstGeom>
          <a:solidFill>
            <a:srgbClr val="18181B"/>
          </a:solidFill>
          <a:ln/>
        </p:spPr>
      </p:sp>
      <p:sp>
        <p:nvSpPr>
          <p:cNvPr id="5" name="Text 2"/>
          <p:cNvSpPr/>
          <p:nvPr/>
        </p:nvSpPr>
        <p:spPr>
          <a:xfrm>
            <a:off x="453626" y="666342"/>
            <a:ext cx="2517228" cy="155684"/>
          </a:xfrm>
          <a:prstGeom prst="rect">
            <a:avLst/>
          </a:prstGeom>
          <a:noFill/>
          <a:ln/>
        </p:spPr>
        <p:txBody>
          <a:bodyPr wrap="none" lIns="0" tIns="0" rIns="0" bIns="0" rtlCol="0" anchor="t">
            <a:spAutoFit/>
          </a:bodyPr>
          <a:lstStyle/>
          <a:p>
            <a:pPr marL="0" indent="0" algn="l">
              <a:lnSpc>
                <a:spcPts val="1200"/>
              </a:lnSpc>
              <a:buNone/>
            </a:pPr>
            <a:r>
              <a:rPr lang="en-US" sz="1200" kern="0" spc="2" dirty="0">
                <a:solidFill>
                  <a:srgbClr val="0284C7"/>
                </a:solidFill>
                <a:latin typeface="IBM Plex Mono" pitchFamily="34" charset="0"/>
                <a:ea typeface="IBM Plex Mono" pitchFamily="34" charset="-122"/>
                <a:cs typeface="IBM Plex Mono" pitchFamily="34" charset="-120"/>
              </a:rPr>
              <a:t>BEGINNER STORY FROM SCRATCH</a:t>
            </a:r>
            <a:endParaRPr lang="en-US" sz="1200" dirty="0"/>
          </a:p>
        </p:txBody>
      </p:sp>
      <p:sp>
        <p:nvSpPr>
          <p:cNvPr id="6" name="Text 3"/>
          <p:cNvSpPr/>
          <p:nvPr/>
        </p:nvSpPr>
        <p:spPr>
          <a:xfrm>
            <a:off x="453625" y="971392"/>
            <a:ext cx="4389109" cy="883832"/>
          </a:xfrm>
          <a:prstGeom prst="rect">
            <a:avLst/>
          </a:prstGeom>
          <a:noFill/>
          <a:ln/>
        </p:spPr>
        <p:txBody>
          <a:bodyPr wrap="square" lIns="0" tIns="0" rIns="0" bIns="0" rtlCol="0" anchor="t">
            <a:spAutoFit/>
          </a:bodyPr>
          <a:lstStyle/>
          <a:p>
            <a:pPr marL="0" indent="0" algn="l">
              <a:lnSpc>
                <a:spcPts val="3400"/>
              </a:lnSpc>
              <a:buNone/>
            </a:pPr>
            <a:r>
              <a:rPr lang="en-US" sz="3200" b="1" dirty="0">
                <a:solidFill>
                  <a:srgbClr val="18181B"/>
                </a:solidFill>
                <a:latin typeface="IBM Plex Mono" pitchFamily="34" charset="0"/>
                <a:ea typeface="IBM Plex Mono" pitchFamily="34" charset="-122"/>
                <a:cs typeface="IBM Plex Mono" pitchFamily="34" charset="-120"/>
              </a:rPr>
              <a:t>Why Frequency Domain Matters</a:t>
            </a:r>
            <a:endParaRPr lang="en-US" sz="3200" dirty="0"/>
          </a:p>
        </p:txBody>
      </p:sp>
      <p:sp>
        <p:nvSpPr>
          <p:cNvPr id="7" name="Text 4"/>
          <p:cNvSpPr/>
          <p:nvPr/>
        </p:nvSpPr>
        <p:spPr>
          <a:xfrm>
            <a:off x="453626" y="1961368"/>
            <a:ext cx="4000500" cy="752707"/>
          </a:xfrm>
          <a:prstGeom prst="rect">
            <a:avLst/>
          </a:prstGeom>
          <a:noFill/>
          <a:ln/>
        </p:spPr>
        <p:txBody>
          <a:bodyPr wrap="square" lIns="0" tIns="0" rIns="0" bIns="0" rtlCol="0" anchor="t">
            <a:spAutoFit/>
          </a:bodyPr>
          <a:lstStyle/>
          <a:p>
            <a:pPr marL="0" indent="0" algn="just">
              <a:lnSpc>
                <a:spcPts val="2000"/>
              </a:lnSpc>
              <a:buNone/>
            </a:pPr>
            <a:r>
              <a:rPr lang="en-US" sz="1400" dirty="0">
                <a:solidFill>
                  <a:srgbClr val="3F3F46"/>
                </a:solidFill>
                <a:latin typeface="Inter" pitchFamily="34" charset="0"/>
                <a:ea typeface="Inter" pitchFamily="34" charset="-122"/>
                <a:cs typeface="Inter" pitchFamily="34" charset="-120"/>
              </a:rPr>
              <a:t>An intuitive guided explanation of signals, Fourier’s idea, harmonics, filtering, and compression for a first-time learner.</a:t>
            </a:r>
            <a:endParaRPr lang="en-US" sz="1400" dirty="0"/>
          </a:p>
        </p:txBody>
      </p:sp>
      <p:grpSp>
        <p:nvGrpSpPr>
          <p:cNvPr id="35" name="Group 34">
            <a:extLst>
              <a:ext uri="{FF2B5EF4-FFF2-40B4-BE49-F238E27FC236}">
                <a16:creationId xmlns:a16="http://schemas.microsoft.com/office/drawing/2014/main" id="{3DD78B8D-8633-A6DD-5882-AEC3B1B06606}"/>
              </a:ext>
            </a:extLst>
          </p:cNvPr>
          <p:cNvGrpSpPr/>
          <p:nvPr/>
        </p:nvGrpSpPr>
        <p:grpSpPr>
          <a:xfrm>
            <a:off x="449290" y="4013459"/>
            <a:ext cx="2593182" cy="298252"/>
            <a:chOff x="457200" y="4347446"/>
            <a:chExt cx="2593182" cy="298252"/>
          </a:xfrm>
        </p:grpSpPr>
        <p:grpSp>
          <p:nvGrpSpPr>
            <p:cNvPr id="34" name="Group 33">
              <a:extLst>
                <a:ext uri="{FF2B5EF4-FFF2-40B4-BE49-F238E27FC236}">
                  <a16:creationId xmlns:a16="http://schemas.microsoft.com/office/drawing/2014/main" id="{99C05673-099B-4C9C-8F40-7F174AC89C3D}"/>
                </a:ext>
              </a:extLst>
            </p:cNvPr>
            <p:cNvGrpSpPr/>
            <p:nvPr/>
          </p:nvGrpSpPr>
          <p:grpSpPr>
            <a:xfrm>
              <a:off x="457200" y="4347446"/>
              <a:ext cx="535781" cy="298252"/>
              <a:chOff x="457200" y="4347446"/>
              <a:chExt cx="535781" cy="298252"/>
            </a:xfrm>
          </p:grpSpPr>
          <p:sp>
            <p:nvSpPr>
              <p:cNvPr id="9" name="Shape 6"/>
              <p:cNvSpPr/>
              <p:nvPr/>
            </p:nvSpPr>
            <p:spPr>
              <a:xfrm>
                <a:off x="457200" y="4347446"/>
                <a:ext cx="535781" cy="298252"/>
              </a:xfrm>
              <a:prstGeom prst="rect">
                <a:avLst/>
              </a:prstGeom>
              <a:solidFill>
                <a:srgbClr val="FFFFFF">
                  <a:alpha val="70000"/>
                </a:srgbClr>
              </a:solidFill>
              <a:ln w="9144">
                <a:solidFill>
                  <a:srgbClr val="18181B"/>
                </a:solidFill>
                <a:prstDash val="solid"/>
              </a:ln>
            </p:spPr>
          </p:sp>
          <p:sp>
            <p:nvSpPr>
              <p:cNvPr id="10" name="Text 7"/>
              <p:cNvSpPr/>
              <p:nvPr/>
            </p:nvSpPr>
            <p:spPr>
              <a:xfrm>
                <a:off x="457200" y="4347446"/>
                <a:ext cx="535781" cy="298252"/>
              </a:xfrm>
              <a:prstGeom prst="rect">
                <a:avLst/>
              </a:prstGeom>
              <a:noFill/>
              <a:ln/>
            </p:spPr>
            <p:txBody>
              <a:bodyPr wrap="square" lIns="119126" tIns="85090" rIns="119126" bIns="85090" rtlCol="0" anchor="t">
                <a:spAutoFit/>
              </a:bodyPr>
              <a:lstStyle/>
              <a:p>
                <a:pPr marL="0" indent="0" algn="l">
                  <a:lnSpc>
                    <a:spcPts val="1000"/>
                  </a:lnSpc>
                  <a:buNone/>
                </a:pPr>
                <a:r>
                  <a:rPr lang="en-US" sz="780" dirty="0">
                    <a:solidFill>
                      <a:srgbClr val="3F3F46"/>
                    </a:solidFill>
                    <a:latin typeface="IBM Plex Mono" pitchFamily="34" charset="0"/>
                    <a:ea typeface="IBM Plex Mono" pitchFamily="34" charset="-122"/>
                    <a:cs typeface="IBM Plex Mono" pitchFamily="34" charset="-120"/>
                  </a:rPr>
                  <a:t>music</a:t>
                </a:r>
                <a:endParaRPr lang="en-US" sz="780" dirty="0"/>
              </a:p>
            </p:txBody>
          </p:sp>
        </p:grpSp>
        <p:grpSp>
          <p:nvGrpSpPr>
            <p:cNvPr id="33" name="Group 32">
              <a:extLst>
                <a:ext uri="{FF2B5EF4-FFF2-40B4-BE49-F238E27FC236}">
                  <a16:creationId xmlns:a16="http://schemas.microsoft.com/office/drawing/2014/main" id="{9D5B822D-D69C-EB4D-D5CE-DEC2E06C592D}"/>
                </a:ext>
              </a:extLst>
            </p:cNvPr>
            <p:cNvGrpSpPr/>
            <p:nvPr/>
          </p:nvGrpSpPr>
          <p:grpSpPr>
            <a:xfrm>
              <a:off x="1078706" y="4347446"/>
              <a:ext cx="535781" cy="298252"/>
              <a:chOff x="1078706" y="4347446"/>
              <a:chExt cx="535781" cy="298252"/>
            </a:xfrm>
          </p:grpSpPr>
          <p:sp>
            <p:nvSpPr>
              <p:cNvPr id="11" name="Shape 8"/>
              <p:cNvSpPr/>
              <p:nvPr/>
            </p:nvSpPr>
            <p:spPr>
              <a:xfrm>
                <a:off x="1078706" y="4347446"/>
                <a:ext cx="535781" cy="298252"/>
              </a:xfrm>
              <a:prstGeom prst="rect">
                <a:avLst/>
              </a:prstGeom>
              <a:solidFill>
                <a:srgbClr val="FFFFFF">
                  <a:alpha val="70000"/>
                </a:srgbClr>
              </a:solidFill>
              <a:ln w="9144">
                <a:solidFill>
                  <a:srgbClr val="18181B"/>
                </a:solidFill>
                <a:prstDash val="solid"/>
              </a:ln>
            </p:spPr>
          </p:sp>
          <p:sp>
            <p:nvSpPr>
              <p:cNvPr id="12" name="Text 9"/>
              <p:cNvSpPr/>
              <p:nvPr/>
            </p:nvSpPr>
            <p:spPr>
              <a:xfrm>
                <a:off x="1078706" y="4347446"/>
                <a:ext cx="535781" cy="298252"/>
              </a:xfrm>
              <a:prstGeom prst="rect">
                <a:avLst/>
              </a:prstGeom>
              <a:noFill/>
              <a:ln/>
            </p:spPr>
            <p:txBody>
              <a:bodyPr wrap="square" lIns="119126" tIns="85090" rIns="119126" bIns="85090" rtlCol="0" anchor="t">
                <a:spAutoFit/>
              </a:bodyPr>
              <a:lstStyle/>
              <a:p>
                <a:pPr marL="0" indent="0" algn="l">
                  <a:lnSpc>
                    <a:spcPts val="1000"/>
                  </a:lnSpc>
                  <a:buNone/>
                </a:pPr>
                <a:r>
                  <a:rPr lang="en-US" sz="780" dirty="0">
                    <a:solidFill>
                      <a:srgbClr val="3F3F46"/>
                    </a:solidFill>
                    <a:latin typeface="IBM Plex Mono" pitchFamily="34" charset="0"/>
                    <a:ea typeface="IBM Plex Mono" pitchFamily="34" charset="-122"/>
                    <a:cs typeface="IBM Plex Mono" pitchFamily="34" charset="-120"/>
                  </a:rPr>
                  <a:t>voice</a:t>
                </a:r>
                <a:endParaRPr lang="en-US" sz="780" dirty="0"/>
              </a:p>
            </p:txBody>
          </p:sp>
        </p:grpSp>
        <p:grpSp>
          <p:nvGrpSpPr>
            <p:cNvPr id="32" name="Group 31">
              <a:extLst>
                <a:ext uri="{FF2B5EF4-FFF2-40B4-BE49-F238E27FC236}">
                  <a16:creationId xmlns:a16="http://schemas.microsoft.com/office/drawing/2014/main" id="{AC62075B-4406-44AB-DED7-CB72B87794D4}"/>
                </a:ext>
              </a:extLst>
            </p:cNvPr>
            <p:cNvGrpSpPr/>
            <p:nvPr/>
          </p:nvGrpSpPr>
          <p:grpSpPr>
            <a:xfrm>
              <a:off x="1700213" y="4347446"/>
              <a:ext cx="600075" cy="298252"/>
              <a:chOff x="1700213" y="4347446"/>
              <a:chExt cx="600075" cy="298252"/>
            </a:xfrm>
          </p:grpSpPr>
          <p:sp>
            <p:nvSpPr>
              <p:cNvPr id="13" name="Shape 10"/>
              <p:cNvSpPr/>
              <p:nvPr/>
            </p:nvSpPr>
            <p:spPr>
              <a:xfrm>
                <a:off x="1700213" y="4347446"/>
                <a:ext cx="600075" cy="298252"/>
              </a:xfrm>
              <a:prstGeom prst="rect">
                <a:avLst/>
              </a:prstGeom>
              <a:solidFill>
                <a:srgbClr val="FFFFFF">
                  <a:alpha val="70000"/>
                </a:srgbClr>
              </a:solidFill>
              <a:ln w="9144">
                <a:solidFill>
                  <a:srgbClr val="18181B"/>
                </a:solidFill>
                <a:prstDash val="solid"/>
              </a:ln>
            </p:spPr>
          </p:sp>
          <p:sp>
            <p:nvSpPr>
              <p:cNvPr id="14" name="Text 11"/>
              <p:cNvSpPr/>
              <p:nvPr/>
            </p:nvSpPr>
            <p:spPr>
              <a:xfrm>
                <a:off x="1700213" y="4347446"/>
                <a:ext cx="600075" cy="298252"/>
              </a:xfrm>
              <a:prstGeom prst="rect">
                <a:avLst/>
              </a:prstGeom>
              <a:noFill/>
              <a:ln/>
            </p:spPr>
            <p:txBody>
              <a:bodyPr wrap="square" lIns="119126" tIns="85090" rIns="119126" bIns="85090" rtlCol="0" anchor="t">
                <a:spAutoFit/>
              </a:bodyPr>
              <a:lstStyle/>
              <a:p>
                <a:pPr marL="0" indent="0" algn="l">
                  <a:lnSpc>
                    <a:spcPts val="1000"/>
                  </a:lnSpc>
                  <a:buNone/>
                </a:pPr>
                <a:r>
                  <a:rPr lang="en-US" sz="780" dirty="0">
                    <a:solidFill>
                      <a:srgbClr val="3F3F46"/>
                    </a:solidFill>
                    <a:latin typeface="IBM Plex Mono" pitchFamily="34" charset="0"/>
                    <a:ea typeface="IBM Plex Mono" pitchFamily="34" charset="-122"/>
                    <a:cs typeface="IBM Plex Mono" pitchFamily="34" charset="-120"/>
                  </a:rPr>
                  <a:t>images</a:t>
                </a:r>
                <a:endParaRPr lang="en-US" sz="780" dirty="0"/>
              </a:p>
            </p:txBody>
          </p:sp>
        </p:grpSp>
        <p:grpSp>
          <p:nvGrpSpPr>
            <p:cNvPr id="31" name="Group 30">
              <a:extLst>
                <a:ext uri="{FF2B5EF4-FFF2-40B4-BE49-F238E27FC236}">
                  <a16:creationId xmlns:a16="http://schemas.microsoft.com/office/drawing/2014/main" id="{F22A2EAA-8D41-DA70-649F-AB2C88B66350}"/>
                </a:ext>
              </a:extLst>
            </p:cNvPr>
            <p:cNvGrpSpPr/>
            <p:nvPr/>
          </p:nvGrpSpPr>
          <p:grpSpPr>
            <a:xfrm>
              <a:off x="2386013" y="4347446"/>
              <a:ext cx="664369" cy="298252"/>
              <a:chOff x="2386013" y="4347446"/>
              <a:chExt cx="664369" cy="298252"/>
            </a:xfrm>
          </p:grpSpPr>
          <p:sp>
            <p:nvSpPr>
              <p:cNvPr id="15" name="Shape 12"/>
              <p:cNvSpPr/>
              <p:nvPr/>
            </p:nvSpPr>
            <p:spPr>
              <a:xfrm>
                <a:off x="2386013" y="4347446"/>
                <a:ext cx="664369" cy="298252"/>
              </a:xfrm>
              <a:prstGeom prst="rect">
                <a:avLst/>
              </a:prstGeom>
              <a:solidFill>
                <a:srgbClr val="FFFFFF">
                  <a:alpha val="70000"/>
                </a:srgbClr>
              </a:solidFill>
              <a:ln w="9144">
                <a:solidFill>
                  <a:srgbClr val="18181B"/>
                </a:solidFill>
                <a:prstDash val="solid"/>
              </a:ln>
            </p:spPr>
          </p:sp>
          <p:sp>
            <p:nvSpPr>
              <p:cNvPr id="16" name="Text 13"/>
              <p:cNvSpPr/>
              <p:nvPr/>
            </p:nvSpPr>
            <p:spPr>
              <a:xfrm>
                <a:off x="2386013" y="4347446"/>
                <a:ext cx="664369" cy="298252"/>
              </a:xfrm>
              <a:prstGeom prst="rect">
                <a:avLst/>
              </a:prstGeom>
              <a:noFill/>
              <a:ln/>
            </p:spPr>
            <p:txBody>
              <a:bodyPr wrap="square" lIns="119126" tIns="85090" rIns="119126" bIns="85090" rtlCol="0" anchor="t">
                <a:spAutoFit/>
              </a:bodyPr>
              <a:lstStyle/>
              <a:p>
                <a:pPr marL="0" indent="0" algn="l">
                  <a:lnSpc>
                    <a:spcPts val="1000"/>
                  </a:lnSpc>
                  <a:buNone/>
                </a:pPr>
                <a:r>
                  <a:rPr lang="en-US" sz="780" dirty="0">
                    <a:solidFill>
                      <a:srgbClr val="3F3F46"/>
                    </a:solidFill>
                    <a:latin typeface="IBM Plex Mono" pitchFamily="34" charset="0"/>
                    <a:ea typeface="IBM Plex Mono" pitchFamily="34" charset="-122"/>
                    <a:cs typeface="IBM Plex Mono" pitchFamily="34" charset="-120"/>
                  </a:rPr>
                  <a:t>physics</a:t>
                </a:r>
                <a:endParaRPr lang="en-US" sz="780" dirty="0"/>
              </a:p>
            </p:txBody>
          </p:sp>
        </p:grpSp>
      </p:grpSp>
      <p:sp>
        <p:nvSpPr>
          <p:cNvPr id="17" name="Text 14"/>
          <p:cNvSpPr/>
          <p:nvPr/>
        </p:nvSpPr>
        <p:spPr>
          <a:xfrm>
            <a:off x="5518352" y="864393"/>
            <a:ext cx="1619008" cy="287536"/>
          </a:xfrm>
          <a:prstGeom prst="rect">
            <a:avLst/>
          </a:prstGeom>
          <a:noFill/>
          <a:ln/>
        </p:spPr>
        <p:txBody>
          <a:bodyPr wrap="square" lIns="0" tIns="0" rIns="0" bIns="0" rtlCol="0" anchor="t">
            <a:spAutoFit/>
          </a:bodyPr>
          <a:lstStyle/>
          <a:p>
            <a:pPr marL="0" indent="0" algn="l">
              <a:lnSpc>
                <a:spcPts val="1000"/>
              </a:lnSpc>
              <a:buNone/>
            </a:pPr>
            <a:r>
              <a:rPr lang="en-US" sz="780" dirty="0">
                <a:solidFill>
                  <a:srgbClr val="3F3F46"/>
                </a:solidFill>
                <a:latin typeface="IBM Plex Mono" pitchFamily="34" charset="0"/>
                <a:ea typeface="IBM Plex Mono" pitchFamily="34" charset="-122"/>
                <a:cs typeface="IBM Plex Mono" pitchFamily="34" charset="-120"/>
              </a:rPr>
              <a:t>Signal view A → waveform</a:t>
            </a:r>
            <a:endParaRPr lang="en-US" sz="780" dirty="0"/>
          </a:p>
        </p:txBody>
      </p:sp>
      <p:sp>
        <p:nvSpPr>
          <p:cNvPr id="18" name="Text 15"/>
          <p:cNvSpPr/>
          <p:nvPr/>
        </p:nvSpPr>
        <p:spPr>
          <a:xfrm>
            <a:off x="7415475" y="874216"/>
            <a:ext cx="1821405" cy="287536"/>
          </a:xfrm>
          <a:prstGeom prst="rect">
            <a:avLst/>
          </a:prstGeom>
          <a:noFill/>
          <a:ln/>
        </p:spPr>
        <p:txBody>
          <a:bodyPr wrap="square" lIns="0" tIns="0" rIns="0" bIns="0" rtlCol="0" anchor="t">
            <a:spAutoFit/>
          </a:bodyPr>
          <a:lstStyle/>
          <a:p>
            <a:pPr marL="0" indent="0" algn="l">
              <a:lnSpc>
                <a:spcPts val="1000"/>
              </a:lnSpc>
              <a:buNone/>
            </a:pPr>
            <a:r>
              <a:rPr lang="en-US" sz="780" dirty="0">
                <a:solidFill>
                  <a:srgbClr val="3F3F46"/>
                </a:solidFill>
                <a:latin typeface="IBM Plex Mono" pitchFamily="34" charset="0"/>
                <a:ea typeface="IBM Plex Mono" pitchFamily="34" charset="-122"/>
                <a:cs typeface="IBM Plex Mono" pitchFamily="34" charset="-120"/>
              </a:rPr>
              <a:t>Signal view B → ingredients</a:t>
            </a:r>
            <a:endParaRPr lang="en-US" sz="780" dirty="0"/>
          </a:p>
        </p:txBody>
      </p:sp>
      <p:sp>
        <p:nvSpPr>
          <p:cNvPr id="19" name="Text 16"/>
          <p:cNvSpPr/>
          <p:nvPr/>
        </p:nvSpPr>
        <p:spPr>
          <a:xfrm>
            <a:off x="5836472" y="1596628"/>
            <a:ext cx="847120" cy="150019"/>
          </a:xfrm>
          <a:prstGeom prst="rect">
            <a:avLst/>
          </a:prstGeom>
          <a:noFill/>
          <a:ln/>
        </p:spPr>
        <p:txBody>
          <a:bodyPr wrap="none" lIns="0" tIns="0" rIns="0" bIns="0" rtlCol="0" anchor="t">
            <a:spAutoFit/>
          </a:bodyPr>
          <a:lstStyle/>
          <a:p>
            <a:pPr marL="0" indent="0" algn="l">
              <a:lnSpc>
                <a:spcPts val="1100"/>
              </a:lnSpc>
              <a:buNone/>
            </a:pPr>
            <a:r>
              <a:rPr lang="en-US" sz="834" kern="0" spc="1" dirty="0">
                <a:solidFill>
                  <a:srgbClr val="3F3F46"/>
                </a:solidFill>
                <a:latin typeface="IBM Plex Mono" pitchFamily="34" charset="0"/>
                <a:ea typeface="IBM Plex Mono" pitchFamily="34" charset="-122"/>
                <a:cs typeface="IBM Plex Mono" pitchFamily="34" charset="-120"/>
              </a:rPr>
              <a:t>TIME DOMAIN</a:t>
            </a:r>
            <a:endParaRPr lang="en-US" sz="834" dirty="0"/>
          </a:p>
        </p:txBody>
      </p:sp>
      <p:sp>
        <p:nvSpPr>
          <p:cNvPr id="20" name="Shape 17"/>
          <p:cNvSpPr/>
          <p:nvPr/>
        </p:nvSpPr>
        <p:spPr>
          <a:xfrm>
            <a:off x="5474233" y="1903809"/>
            <a:ext cx="1571625" cy="1714500"/>
          </a:xfrm>
          <a:prstGeom prst="rect">
            <a:avLst/>
          </a:prstGeom>
          <a:noFill/>
          <a:ln w="9144">
            <a:solidFill>
              <a:srgbClr val="18181B"/>
            </a:solidFill>
            <a:prstDash val="solid"/>
          </a:ln>
        </p:spPr>
        <p:txBody>
          <a:bodyPr/>
          <a:lstStyle/>
          <a:p>
            <a:endParaRPr lang="en-US" dirty="0"/>
          </a:p>
        </p:txBody>
      </p:sp>
      <p:sp>
        <p:nvSpPr>
          <p:cNvPr id="21" name="Text 18"/>
          <p:cNvSpPr/>
          <p:nvPr/>
        </p:nvSpPr>
        <p:spPr>
          <a:xfrm>
            <a:off x="7701773" y="1588366"/>
            <a:ext cx="1232157" cy="150019"/>
          </a:xfrm>
          <a:prstGeom prst="rect">
            <a:avLst/>
          </a:prstGeom>
          <a:noFill/>
          <a:ln/>
        </p:spPr>
        <p:txBody>
          <a:bodyPr wrap="none" lIns="0" tIns="0" rIns="0" bIns="0" rtlCol="0" anchor="t">
            <a:spAutoFit/>
          </a:bodyPr>
          <a:lstStyle/>
          <a:p>
            <a:pPr marL="0" indent="0" algn="l">
              <a:lnSpc>
                <a:spcPts val="1100"/>
              </a:lnSpc>
              <a:buNone/>
            </a:pPr>
            <a:r>
              <a:rPr lang="en-US" sz="834" kern="0" spc="1" dirty="0">
                <a:solidFill>
                  <a:srgbClr val="3F3F46"/>
                </a:solidFill>
                <a:latin typeface="IBM Plex Mono" pitchFamily="34" charset="0"/>
                <a:ea typeface="IBM Plex Mono" pitchFamily="34" charset="-122"/>
                <a:cs typeface="IBM Plex Mono" pitchFamily="34" charset="-120"/>
              </a:rPr>
              <a:t>FREQUENCY DOMAIN</a:t>
            </a:r>
            <a:endParaRPr lang="en-US" sz="834" dirty="0"/>
          </a:p>
        </p:txBody>
      </p:sp>
      <p:sp>
        <p:nvSpPr>
          <p:cNvPr id="22" name="Shape 19"/>
          <p:cNvSpPr/>
          <p:nvPr/>
        </p:nvSpPr>
        <p:spPr>
          <a:xfrm>
            <a:off x="7433742" y="1903809"/>
            <a:ext cx="1500188" cy="1714500"/>
          </a:xfrm>
          <a:prstGeom prst="rect">
            <a:avLst/>
          </a:prstGeom>
          <a:noFill/>
          <a:ln w="9144">
            <a:solidFill>
              <a:srgbClr val="18181B"/>
            </a:solidFill>
            <a:prstDash val="solid"/>
          </a:ln>
        </p:spPr>
        <p:txBody>
          <a:bodyPr/>
          <a:lstStyle/>
          <a:p>
            <a:endParaRPr lang="en-US" dirty="0"/>
          </a:p>
        </p:txBody>
      </p:sp>
      <p:sp>
        <p:nvSpPr>
          <p:cNvPr id="23" name="Text 20"/>
          <p:cNvSpPr/>
          <p:nvPr/>
        </p:nvSpPr>
        <p:spPr>
          <a:xfrm>
            <a:off x="5539351" y="4601880"/>
            <a:ext cx="885629" cy="218008"/>
          </a:xfrm>
          <a:prstGeom prst="rect">
            <a:avLst/>
          </a:prstGeom>
          <a:noFill/>
          <a:ln/>
        </p:spPr>
        <p:txBody>
          <a:bodyPr wrap="square" lIns="0" tIns="0" rIns="0" bIns="0" rtlCol="0" anchor="t">
            <a:spAutoFit/>
          </a:bodyPr>
          <a:lstStyle/>
          <a:p>
            <a:pPr marL="0" indent="0" algn="ctr">
              <a:lnSpc>
                <a:spcPts val="1700"/>
              </a:lnSpc>
              <a:buNone/>
            </a:pPr>
            <a:r>
              <a:rPr lang="en-US" sz="1600" b="1" dirty="0">
                <a:solidFill>
                  <a:srgbClr val="18181B"/>
                </a:solidFill>
                <a:latin typeface="Inter" pitchFamily="34" charset="0"/>
                <a:ea typeface="Inter" pitchFamily="34" charset="-122"/>
              </a:rPr>
              <a:t>Summary:</a:t>
            </a:r>
            <a:endParaRPr lang="en-US" sz="1600" dirty="0"/>
          </a:p>
        </p:txBody>
      </p:sp>
      <p:sp>
        <p:nvSpPr>
          <p:cNvPr id="24" name="Text 21"/>
          <p:cNvSpPr/>
          <p:nvPr/>
        </p:nvSpPr>
        <p:spPr>
          <a:xfrm>
            <a:off x="6504623" y="4496572"/>
            <a:ext cx="2494619" cy="428625"/>
          </a:xfrm>
          <a:prstGeom prst="rect">
            <a:avLst/>
          </a:prstGeom>
          <a:noFill/>
          <a:ln/>
        </p:spPr>
        <p:txBody>
          <a:bodyPr wrap="square" lIns="0" tIns="0" rIns="0" bIns="0" rtlCol="0" anchor="t">
            <a:spAutoFit/>
          </a:bodyPr>
          <a:lstStyle/>
          <a:p>
            <a:pPr marL="0" indent="0" algn="ctr">
              <a:lnSpc>
                <a:spcPts val="1700"/>
              </a:lnSpc>
              <a:buNone/>
            </a:pPr>
            <a:r>
              <a:rPr lang="en-US" sz="1100" dirty="0">
                <a:solidFill>
                  <a:srgbClr val="3F3F46"/>
                </a:solidFill>
                <a:latin typeface="Inter" pitchFamily="34" charset="0"/>
                <a:ea typeface="Inter" pitchFamily="34" charset="-122"/>
                <a:cs typeface="Inter" pitchFamily="34" charset="-120"/>
              </a:rPr>
              <a:t>Signals look messy in time, but frequency reveals the recurring pieces hidden inside.</a:t>
            </a:r>
            <a:endParaRPr lang="en-US" sz="1100" dirty="0"/>
          </a:p>
        </p:txBody>
      </p:sp>
      <p:grpSp>
        <p:nvGrpSpPr>
          <p:cNvPr id="36" name="Group 35">
            <a:extLst>
              <a:ext uri="{FF2B5EF4-FFF2-40B4-BE49-F238E27FC236}">
                <a16:creationId xmlns:a16="http://schemas.microsoft.com/office/drawing/2014/main" id="{015B4285-753D-DB90-F34C-DF12726C565B}"/>
              </a:ext>
            </a:extLst>
          </p:cNvPr>
          <p:cNvGrpSpPr/>
          <p:nvPr/>
        </p:nvGrpSpPr>
        <p:grpSpPr>
          <a:xfrm>
            <a:off x="446234" y="2998006"/>
            <a:ext cx="3654711" cy="801201"/>
            <a:chOff x="347925" y="3170684"/>
            <a:chExt cx="3654711" cy="801201"/>
          </a:xfrm>
        </p:grpSpPr>
        <p:sp>
          <p:nvSpPr>
            <p:cNvPr id="8" name="Text 5"/>
            <p:cNvSpPr/>
            <p:nvPr/>
          </p:nvSpPr>
          <p:spPr>
            <a:xfrm>
              <a:off x="347925" y="3175513"/>
              <a:ext cx="3348138" cy="796372"/>
            </a:xfrm>
            <a:prstGeom prst="rect">
              <a:avLst/>
            </a:prstGeom>
            <a:noFill/>
            <a:ln/>
          </p:spPr>
          <p:txBody>
            <a:bodyPr wrap="square" lIns="0" tIns="153035" rIns="0" bIns="153035" rtlCol="0" anchor="ctr">
              <a:spAutoFit/>
            </a:bodyPr>
            <a:lstStyle/>
            <a:p>
              <a:pPr marL="0" indent="0" algn="just">
                <a:lnSpc>
                  <a:spcPts val="1900"/>
                </a:lnSpc>
                <a:buNone/>
              </a:pPr>
              <a:r>
                <a:rPr lang="en-US" sz="1600" b="1" dirty="0">
                  <a:solidFill>
                    <a:srgbClr val="18181B"/>
                  </a:solidFill>
                  <a:latin typeface="Inter" pitchFamily="34" charset="0"/>
                  <a:ea typeface="Inter" pitchFamily="34" charset="-122"/>
                  <a:cs typeface="Inter" pitchFamily="34" charset="-120"/>
                </a:rPr>
                <a:t>Why do we need a frequency domain if signals already exist in time?</a:t>
              </a:r>
              <a:endParaRPr lang="en-US" sz="1600" b="1" dirty="0"/>
            </a:p>
          </p:txBody>
        </p:sp>
        <p:cxnSp>
          <p:nvCxnSpPr>
            <p:cNvPr id="26" name="Straight Connector 25">
              <a:extLst>
                <a:ext uri="{FF2B5EF4-FFF2-40B4-BE49-F238E27FC236}">
                  <a16:creationId xmlns:a16="http://schemas.microsoft.com/office/drawing/2014/main" id="{EB26AB21-60A4-6852-9D18-DDC6D7E9050C}"/>
                </a:ext>
              </a:extLst>
            </p:cNvPr>
            <p:cNvCxnSpPr>
              <a:cxnSpLocks/>
            </p:cNvCxnSpPr>
            <p:nvPr/>
          </p:nvCxnSpPr>
          <p:spPr>
            <a:xfrm>
              <a:off x="350981" y="3170684"/>
              <a:ext cx="36516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F9169E1-1191-06BB-83DD-A624661CD3CF}"/>
                </a:ext>
              </a:extLst>
            </p:cNvPr>
            <p:cNvCxnSpPr>
              <a:cxnSpLocks/>
            </p:cNvCxnSpPr>
            <p:nvPr/>
          </p:nvCxnSpPr>
          <p:spPr>
            <a:xfrm>
              <a:off x="350981" y="3971885"/>
              <a:ext cx="365165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9" name="Text 21">
            <a:extLst>
              <a:ext uri="{FF2B5EF4-FFF2-40B4-BE49-F238E27FC236}">
                <a16:creationId xmlns:a16="http://schemas.microsoft.com/office/drawing/2014/main" id="{841F343A-CE7C-1B71-6413-1D3592AEBBA9}"/>
              </a:ext>
            </a:extLst>
          </p:cNvPr>
          <p:cNvSpPr/>
          <p:nvPr/>
        </p:nvSpPr>
        <p:spPr>
          <a:xfrm>
            <a:off x="5941045" y="167044"/>
            <a:ext cx="2494619" cy="417037"/>
          </a:xfrm>
          <a:prstGeom prst="rect">
            <a:avLst/>
          </a:prstGeom>
          <a:noFill/>
          <a:ln/>
        </p:spPr>
        <p:txBody>
          <a:bodyPr wrap="square" lIns="0" tIns="0" rIns="0" bIns="0" rtlCol="0" anchor="t">
            <a:spAutoFit/>
          </a:bodyPr>
          <a:lstStyle/>
          <a:p>
            <a:pPr marL="0" indent="0" algn="r">
              <a:lnSpc>
                <a:spcPts val="1700"/>
              </a:lnSpc>
              <a:buNone/>
            </a:pPr>
            <a:r>
              <a:rPr lang="en-US" sz="1050" dirty="0">
                <a:solidFill>
                  <a:srgbClr val="3F3F46"/>
                </a:solidFill>
                <a:latin typeface="Inter" pitchFamily="34" charset="0"/>
                <a:ea typeface="Inter" pitchFamily="34" charset="-122"/>
                <a:cs typeface="Inter" pitchFamily="34" charset="-120"/>
              </a:rPr>
              <a:t>Author: Tan Chee Xiang</a:t>
            </a:r>
          </a:p>
          <a:p>
            <a:pPr marL="0" indent="0" algn="r">
              <a:lnSpc>
                <a:spcPts val="1700"/>
              </a:lnSpc>
              <a:buNone/>
            </a:pPr>
            <a:r>
              <a:rPr lang="en-US" sz="1050" dirty="0">
                <a:solidFill>
                  <a:srgbClr val="3F3F46"/>
                </a:solidFill>
                <a:latin typeface="Inter" pitchFamily="34" charset="0"/>
                <a:ea typeface="Inter" pitchFamily="34" charset="-122"/>
              </a:rPr>
              <a:t>Made with: Manus 1.6 Lite</a:t>
            </a:r>
            <a:endParaRPr lang="en-US" sz="1050" dirty="0"/>
          </a:p>
        </p:txBody>
      </p:sp>
      <p:pic>
        <p:nvPicPr>
          <p:cNvPr id="1026" name="Picture 2" descr="Manus - Free download and install on Windows | Microsoft Store">
            <a:extLst>
              <a:ext uri="{FF2B5EF4-FFF2-40B4-BE49-F238E27FC236}">
                <a16:creationId xmlns:a16="http://schemas.microsoft.com/office/drawing/2014/main" id="{22F7B6E7-D54D-BD82-42D9-5EE111E981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657" y="142470"/>
            <a:ext cx="468640" cy="468640"/>
          </a:xfrm>
          <a:prstGeom prst="rect">
            <a:avLst/>
          </a:prstGeom>
          <a:noFill/>
          <a:ln>
            <a:solidFill>
              <a:schemeClr val="bg2">
                <a:lumMod val="90000"/>
              </a:schemeClr>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28688"/>
          </a:xfrm>
          <a:prstGeom prst="rect">
            <a:avLst/>
          </a:prstGeom>
          <a:solidFill>
            <a:srgbClr val="000000">
              <a:alpha val="0"/>
            </a:srgbClr>
          </a:solidFill>
          <a:ln/>
        </p:spPr>
      </p:sp>
      <p:sp>
        <p:nvSpPr>
          <p:cNvPr id="4" name="Shape 1"/>
          <p:cNvSpPr/>
          <p:nvPr/>
        </p:nvSpPr>
        <p:spPr>
          <a:xfrm>
            <a:off x="0" y="921544"/>
            <a:ext cx="9144000" cy="7144"/>
          </a:xfrm>
          <a:prstGeom prst="rect">
            <a:avLst/>
          </a:prstGeom>
          <a:solidFill>
            <a:srgbClr val="18181B"/>
          </a:solidFill>
          <a:ln/>
        </p:spPr>
      </p:sp>
      <p:sp>
        <p:nvSpPr>
          <p:cNvPr id="5" name="Text 2"/>
          <p:cNvSpPr/>
          <p:nvPr/>
        </p:nvSpPr>
        <p:spPr>
          <a:xfrm>
            <a:off x="342899" y="141536"/>
            <a:ext cx="674800"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GENERAL IDEA</a:t>
            </a:r>
            <a:endParaRPr lang="en-US" sz="727" dirty="0"/>
          </a:p>
        </p:txBody>
      </p:sp>
      <p:sp>
        <p:nvSpPr>
          <p:cNvPr id="6" name="Text 3"/>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A signal is anything that changes over time or space</a:t>
            </a:r>
            <a:endParaRPr lang="en-US" sz="1602" dirty="0"/>
          </a:p>
        </p:txBody>
      </p:sp>
      <p:sp>
        <p:nvSpPr>
          <p:cNvPr id="7" name="Text 4"/>
          <p:cNvSpPr/>
          <p:nvPr/>
        </p:nvSpPr>
        <p:spPr>
          <a:xfrm>
            <a:off x="6217909" y="214342"/>
            <a:ext cx="2926063" cy="562846"/>
          </a:xfrm>
          <a:prstGeom prst="rect">
            <a:avLst/>
          </a:prstGeom>
          <a:noFill/>
          <a:ln/>
        </p:spPr>
        <p:txBody>
          <a:bodyPr wrap="square" lIns="204089" tIns="0" rIns="204089" bIns="0" rtlCol="0" anchor="ctr">
            <a:spAutoFit/>
          </a:bodyPr>
          <a:lstStyle/>
          <a:p>
            <a:pPr marL="0" indent="0" algn="just">
              <a:lnSpc>
                <a:spcPts val="1500"/>
              </a:lnSpc>
              <a:buNone/>
            </a:pPr>
            <a:r>
              <a:rPr lang="en-US" sz="1050" dirty="0">
                <a:solidFill>
                  <a:srgbClr val="3F3F46"/>
                </a:solidFill>
                <a:latin typeface="Inter" pitchFamily="34" charset="0"/>
                <a:ea typeface="Inter" pitchFamily="34" charset="-122"/>
                <a:cs typeface="Inter" pitchFamily="34" charset="-120"/>
              </a:rPr>
              <a:t>Once we stop thinking “signal = audio,” the idea becomes a way to describe many physical patterns.</a:t>
            </a:r>
            <a:endParaRPr lang="en-US" sz="1050" dirty="0"/>
          </a:p>
        </p:txBody>
      </p:sp>
      <p:sp>
        <p:nvSpPr>
          <p:cNvPr id="8" name="Text 5"/>
          <p:cNvSpPr/>
          <p:nvPr/>
        </p:nvSpPr>
        <p:spPr>
          <a:xfrm>
            <a:off x="342900" y="1228725"/>
            <a:ext cx="2684599" cy="1058367"/>
          </a:xfrm>
          <a:prstGeom prst="rect">
            <a:avLst/>
          </a:prstGeom>
          <a:noFill/>
          <a:ln/>
        </p:spPr>
        <p:txBody>
          <a:bodyPr wrap="square" lIns="0" tIns="0" rIns="0" bIns="0" rtlCol="0" anchor="t">
            <a:spAutoFit/>
          </a:bodyPr>
          <a:lstStyle/>
          <a:p>
            <a:pPr marL="0" indent="0" algn="just">
              <a:lnSpc>
                <a:spcPts val="2100"/>
              </a:lnSpc>
              <a:buNone/>
            </a:pPr>
            <a:r>
              <a:rPr lang="en-US" sz="1431" dirty="0">
                <a:solidFill>
                  <a:srgbClr val="18181B"/>
                </a:solidFill>
                <a:latin typeface="Inter" pitchFamily="34" charset="0"/>
                <a:ea typeface="Inter" pitchFamily="34" charset="-122"/>
                <a:cs typeface="Inter" pitchFamily="34" charset="-120"/>
              </a:rPr>
              <a:t>A signal is simply a </a:t>
            </a:r>
            <a:r>
              <a:rPr lang="en-US" sz="1346" b="1" dirty="0">
                <a:solidFill>
                  <a:srgbClr val="EA580C"/>
                </a:solidFill>
                <a:latin typeface="Inter" pitchFamily="34" charset="0"/>
                <a:ea typeface="Inter" pitchFamily="34" charset="-122"/>
                <a:cs typeface="Inter" pitchFamily="34" charset="-120"/>
              </a:rPr>
              <a:t>changing quantity</a:t>
            </a:r>
            <a:r>
              <a:rPr lang="en-US" sz="1431" dirty="0">
                <a:solidFill>
                  <a:srgbClr val="18181B"/>
                </a:solidFill>
                <a:latin typeface="Inter" pitchFamily="34" charset="0"/>
                <a:ea typeface="Inter" pitchFamily="34" charset="-122"/>
                <a:cs typeface="Inter" pitchFamily="34" charset="-120"/>
              </a:rPr>
              <a:t>. The quantity might change across seconds, meters, pixels, or distance.</a:t>
            </a:r>
            <a:endParaRPr lang="en-US" sz="1431" dirty="0"/>
          </a:p>
        </p:txBody>
      </p:sp>
      <p:sp>
        <p:nvSpPr>
          <p:cNvPr id="9" name="Text 6"/>
          <p:cNvSpPr/>
          <p:nvPr/>
        </p:nvSpPr>
        <p:spPr>
          <a:xfrm>
            <a:off x="342899" y="2805465"/>
            <a:ext cx="1243853" cy="135550"/>
          </a:xfrm>
          <a:prstGeom prst="rect">
            <a:avLst/>
          </a:prstGeom>
          <a:noFill/>
          <a:ln/>
        </p:spPr>
        <p:txBody>
          <a:bodyPr wrap="square" lIns="0" tIns="0" rIns="0" bIns="0" rtlCol="0" anchor="t">
            <a:spAutoFit/>
          </a:bodyPr>
          <a:lstStyle/>
          <a:p>
            <a:pPr marL="0" indent="0" algn="ctr">
              <a:lnSpc>
                <a:spcPts val="1100"/>
              </a:lnSpc>
              <a:buNone/>
            </a:pPr>
            <a:r>
              <a:rPr lang="en-US" sz="900" dirty="0">
                <a:solidFill>
                  <a:srgbClr val="3F3F46"/>
                </a:solidFill>
                <a:latin typeface="IBM Plex Mono" pitchFamily="34" charset="0"/>
                <a:ea typeface="IBM Plex Mono" pitchFamily="34" charset="-122"/>
                <a:cs typeface="IBM Plex Mono" pitchFamily="34" charset="-120"/>
              </a:rPr>
              <a:t>changes over time</a:t>
            </a:r>
            <a:endParaRPr lang="en-US" sz="900" dirty="0"/>
          </a:p>
        </p:txBody>
      </p:sp>
      <p:sp>
        <p:nvSpPr>
          <p:cNvPr id="10" name="Text 7"/>
          <p:cNvSpPr/>
          <p:nvPr/>
        </p:nvSpPr>
        <p:spPr>
          <a:xfrm>
            <a:off x="1685200" y="2740433"/>
            <a:ext cx="1342299" cy="276614"/>
          </a:xfrm>
          <a:prstGeom prst="rect">
            <a:avLst/>
          </a:prstGeom>
          <a:noFill/>
          <a:ln/>
        </p:spPr>
        <p:txBody>
          <a:bodyPr wrap="square" lIns="0" tIns="0" rIns="0" bIns="0" rtlCol="0" anchor="t">
            <a:spAutoFit/>
          </a:bodyPr>
          <a:lstStyle/>
          <a:p>
            <a:pPr marL="0" indent="0" algn="ctr">
              <a:lnSpc>
                <a:spcPts val="1100"/>
              </a:lnSpc>
              <a:buNone/>
            </a:pPr>
            <a:r>
              <a:rPr lang="en-US" sz="900" dirty="0">
                <a:solidFill>
                  <a:srgbClr val="3F3F46"/>
                </a:solidFill>
                <a:latin typeface="IBM Plex Mono" pitchFamily="34" charset="0"/>
                <a:ea typeface="IBM Plex Mono" pitchFamily="34" charset="-122"/>
                <a:cs typeface="IBM Plex Mono" pitchFamily="34" charset="-120"/>
              </a:rPr>
              <a:t>changes across space</a:t>
            </a:r>
            <a:endParaRPr lang="en-US" sz="900" dirty="0"/>
          </a:p>
        </p:txBody>
      </p:sp>
      <p:sp>
        <p:nvSpPr>
          <p:cNvPr id="11" name="Text 8"/>
          <p:cNvSpPr/>
          <p:nvPr/>
        </p:nvSpPr>
        <p:spPr>
          <a:xfrm>
            <a:off x="342900" y="3527561"/>
            <a:ext cx="2684599" cy="597898"/>
          </a:xfrm>
          <a:prstGeom prst="rect">
            <a:avLst/>
          </a:prstGeom>
          <a:noFill/>
          <a:ln/>
        </p:spPr>
        <p:txBody>
          <a:bodyPr wrap="square" lIns="0" tIns="0" rIns="0"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This broad definition is what lets one language describe speech, weather, light, vibration, and many problems in physics.</a:t>
            </a:r>
            <a:endParaRPr lang="en-US" sz="1100" dirty="0"/>
          </a:p>
        </p:txBody>
      </p:sp>
      <p:sp>
        <p:nvSpPr>
          <p:cNvPr id="12" name="Text 9"/>
          <p:cNvSpPr/>
          <p:nvPr/>
        </p:nvSpPr>
        <p:spPr>
          <a:xfrm>
            <a:off x="3491843" y="1128713"/>
            <a:ext cx="464871" cy="155684"/>
          </a:xfrm>
          <a:prstGeom prst="rect">
            <a:avLst/>
          </a:prstGeom>
          <a:noFill/>
          <a:ln/>
        </p:spPr>
        <p:txBody>
          <a:bodyPr wrap="none" lIns="0" tIns="0" rIns="0" bIns="0" rtlCol="0" anchor="t">
            <a:spAutoFit/>
          </a:bodyPr>
          <a:lstStyle/>
          <a:p>
            <a:pPr marL="0" indent="0" algn="l">
              <a:lnSpc>
                <a:spcPts val="1200"/>
              </a:lnSpc>
              <a:buNone/>
            </a:pPr>
            <a:r>
              <a:rPr lang="en-US" sz="1200" dirty="0">
                <a:solidFill>
                  <a:srgbClr val="0284C7"/>
                </a:solidFill>
                <a:latin typeface="IBM Plex Mono" pitchFamily="34" charset="0"/>
                <a:ea typeface="IBM Plex Mono" pitchFamily="34" charset="-122"/>
                <a:cs typeface="IBM Plex Mono" pitchFamily="34" charset="-120"/>
              </a:rPr>
              <a:t>SOUND</a:t>
            </a:r>
            <a:endParaRPr lang="en-US" sz="1200" dirty="0"/>
          </a:p>
        </p:txBody>
      </p:sp>
      <p:sp>
        <p:nvSpPr>
          <p:cNvPr id="13" name="Text 10"/>
          <p:cNvSpPr/>
          <p:nvPr/>
        </p:nvSpPr>
        <p:spPr>
          <a:xfrm>
            <a:off x="3491843" y="1396603"/>
            <a:ext cx="2214563" cy="396327"/>
          </a:xfrm>
          <a:prstGeom prst="rect">
            <a:avLst/>
          </a:prstGeom>
          <a:noFill/>
          <a:ln/>
        </p:spPr>
        <p:txBody>
          <a:bodyPr wrap="square" lIns="0" tIns="0" rIns="0" bIns="0" rtlCol="0" anchor="t">
            <a:spAutoFit/>
          </a:bodyPr>
          <a:lstStyle/>
          <a:p>
            <a:pPr marL="0" indent="0" algn="just">
              <a:lnSpc>
                <a:spcPts val="1600"/>
              </a:lnSpc>
              <a:buNone/>
            </a:pPr>
            <a:r>
              <a:rPr lang="en-US" sz="1200" dirty="0">
                <a:solidFill>
                  <a:srgbClr val="18181B"/>
                </a:solidFill>
                <a:latin typeface="Inter" pitchFamily="34" charset="0"/>
                <a:ea typeface="Inter" pitchFamily="34" charset="-122"/>
                <a:cs typeface="Inter" pitchFamily="34" charset="-120"/>
              </a:rPr>
              <a:t>Air pressure rises and falls as a voice or instrument creates waves.</a:t>
            </a:r>
            <a:endParaRPr lang="en-US" sz="1200" dirty="0"/>
          </a:p>
        </p:txBody>
      </p:sp>
      <p:sp>
        <p:nvSpPr>
          <p:cNvPr id="14" name="Text 11"/>
          <p:cNvSpPr/>
          <p:nvPr/>
        </p:nvSpPr>
        <p:spPr>
          <a:xfrm>
            <a:off x="5778540" y="2214563"/>
            <a:ext cx="232172" cy="500063"/>
          </a:xfrm>
          <a:prstGeom prst="rect">
            <a:avLst/>
          </a:prstGeom>
          <a:noFill/>
          <a:ln/>
        </p:spPr>
        <p:txBody>
          <a:bodyPr wrap="none" lIns="0" tIns="0" rIns="0" bIns="0" rtlCol="0" anchor="t">
            <a:spAutoFit/>
          </a:bodyPr>
          <a:lstStyle/>
          <a:p>
            <a:pPr marL="0" indent="0" algn="l">
              <a:lnSpc>
                <a:spcPts val="3600"/>
              </a:lnSpc>
              <a:buNone/>
            </a:pPr>
            <a:r>
              <a:rPr lang="en-US" sz="2931" dirty="0">
                <a:solidFill>
                  <a:srgbClr val="EA580C"/>
                </a:solidFill>
                <a:latin typeface="IBM Plex Mono" pitchFamily="34" charset="0"/>
                <a:ea typeface="IBM Plex Mono" pitchFamily="34" charset="-122"/>
                <a:cs typeface="IBM Plex Mono" pitchFamily="34" charset="-120"/>
              </a:rPr>
              <a:t>~</a:t>
            </a:r>
            <a:endParaRPr lang="en-US" sz="2931" dirty="0"/>
          </a:p>
        </p:txBody>
      </p:sp>
      <p:sp>
        <p:nvSpPr>
          <p:cNvPr id="15" name="Text 12"/>
          <p:cNvSpPr/>
          <p:nvPr/>
        </p:nvSpPr>
        <p:spPr>
          <a:xfrm>
            <a:off x="6417906" y="1128713"/>
            <a:ext cx="1022716" cy="155684"/>
          </a:xfrm>
          <a:prstGeom prst="rect">
            <a:avLst/>
          </a:prstGeom>
          <a:noFill/>
          <a:ln/>
        </p:spPr>
        <p:txBody>
          <a:bodyPr wrap="none" lIns="0" tIns="0" rIns="0" bIns="0" rtlCol="0" anchor="t">
            <a:spAutoFit/>
          </a:bodyPr>
          <a:lstStyle/>
          <a:p>
            <a:pPr marL="0" indent="0" algn="l">
              <a:lnSpc>
                <a:spcPts val="1200"/>
              </a:lnSpc>
              <a:buNone/>
            </a:pPr>
            <a:r>
              <a:rPr lang="en-US" sz="1200" dirty="0">
                <a:solidFill>
                  <a:srgbClr val="0284C7"/>
                </a:solidFill>
                <a:latin typeface="IBM Plex Mono" pitchFamily="34" charset="0"/>
                <a:ea typeface="IBM Plex Mono" pitchFamily="34" charset="-122"/>
                <a:cs typeface="IBM Plex Mono" pitchFamily="34" charset="-120"/>
              </a:rPr>
              <a:t>TEMPERATURE</a:t>
            </a:r>
            <a:endParaRPr lang="en-US" sz="1200" dirty="0"/>
          </a:p>
        </p:txBody>
      </p:sp>
      <p:sp>
        <p:nvSpPr>
          <p:cNvPr id="16" name="Text 13"/>
          <p:cNvSpPr/>
          <p:nvPr/>
        </p:nvSpPr>
        <p:spPr>
          <a:xfrm>
            <a:off x="6417906" y="1396603"/>
            <a:ext cx="2214563" cy="604909"/>
          </a:xfrm>
          <a:prstGeom prst="rect">
            <a:avLst/>
          </a:prstGeom>
          <a:noFill/>
          <a:ln/>
        </p:spPr>
        <p:txBody>
          <a:bodyPr wrap="square" lIns="0" tIns="0" rIns="0" bIns="0" rtlCol="0" anchor="t">
            <a:spAutoFit/>
          </a:bodyPr>
          <a:lstStyle/>
          <a:p>
            <a:pPr marL="0" indent="0" algn="just">
              <a:lnSpc>
                <a:spcPts val="1600"/>
              </a:lnSpc>
              <a:buNone/>
            </a:pPr>
            <a:r>
              <a:rPr lang="en-US" sz="1200" dirty="0">
                <a:solidFill>
                  <a:srgbClr val="18181B"/>
                </a:solidFill>
                <a:latin typeface="Inter" pitchFamily="34" charset="0"/>
                <a:ea typeface="Inter" pitchFamily="34" charset="-122"/>
                <a:cs typeface="Inter" pitchFamily="34" charset="-120"/>
              </a:rPr>
              <a:t>A room warms and cools through the day, creating a pattern over time.</a:t>
            </a:r>
            <a:endParaRPr lang="en-US" sz="1200" dirty="0"/>
          </a:p>
        </p:txBody>
      </p:sp>
      <p:sp>
        <p:nvSpPr>
          <p:cNvPr id="17" name="Text 14"/>
          <p:cNvSpPr/>
          <p:nvPr/>
        </p:nvSpPr>
        <p:spPr>
          <a:xfrm>
            <a:off x="8712473" y="2189559"/>
            <a:ext cx="231474" cy="525066"/>
          </a:xfrm>
          <a:prstGeom prst="rect">
            <a:avLst/>
          </a:prstGeom>
          <a:noFill/>
          <a:ln/>
        </p:spPr>
        <p:txBody>
          <a:bodyPr wrap="none" lIns="0" tIns="0" rIns="0" bIns="0" rtlCol="0" anchor="t">
            <a:spAutoFit/>
          </a:bodyPr>
          <a:lstStyle/>
          <a:p>
            <a:pPr marL="0" indent="0" algn="l">
              <a:lnSpc>
                <a:spcPts val="3600"/>
              </a:lnSpc>
              <a:buNone/>
            </a:pPr>
            <a:r>
              <a:rPr lang="en-US" sz="2931" dirty="0">
                <a:solidFill>
                  <a:srgbClr val="EA580C"/>
                </a:solidFill>
                <a:latin typeface="IBM Plex Mono" pitchFamily="34" charset="0"/>
                <a:ea typeface="IBM Plex Mono" pitchFamily="34" charset="-122"/>
                <a:cs typeface="IBM Plex Mono" pitchFamily="34" charset="-120"/>
              </a:rPr>
              <a:t>Δ</a:t>
            </a:r>
            <a:endParaRPr lang="en-US" sz="2931" dirty="0"/>
          </a:p>
        </p:txBody>
      </p:sp>
      <p:sp>
        <p:nvSpPr>
          <p:cNvPr id="18" name="Text 15"/>
          <p:cNvSpPr/>
          <p:nvPr/>
        </p:nvSpPr>
        <p:spPr>
          <a:xfrm>
            <a:off x="3491843" y="2921794"/>
            <a:ext cx="1580561" cy="155684"/>
          </a:xfrm>
          <a:prstGeom prst="rect">
            <a:avLst/>
          </a:prstGeom>
          <a:noFill/>
          <a:ln/>
        </p:spPr>
        <p:txBody>
          <a:bodyPr wrap="none" lIns="0" tIns="0" rIns="0" bIns="0" rtlCol="0" anchor="t">
            <a:spAutoFit/>
          </a:bodyPr>
          <a:lstStyle/>
          <a:p>
            <a:pPr marL="0" indent="0" algn="l">
              <a:lnSpc>
                <a:spcPts val="1200"/>
              </a:lnSpc>
              <a:buNone/>
            </a:pPr>
            <a:r>
              <a:rPr lang="en-US" sz="1200" dirty="0">
                <a:solidFill>
                  <a:srgbClr val="0284C7"/>
                </a:solidFill>
                <a:latin typeface="IBM Plex Mono" pitchFamily="34" charset="0"/>
                <a:ea typeface="IBM Plex Mono" pitchFamily="34" charset="-122"/>
                <a:cs typeface="IBM Plex Mono" pitchFamily="34" charset="-120"/>
              </a:rPr>
              <a:t>LIGHT IN AN IMAGE</a:t>
            </a:r>
            <a:endParaRPr lang="en-US" sz="1200" dirty="0"/>
          </a:p>
        </p:txBody>
      </p:sp>
      <p:sp>
        <p:nvSpPr>
          <p:cNvPr id="19" name="Text 16"/>
          <p:cNvSpPr/>
          <p:nvPr/>
        </p:nvSpPr>
        <p:spPr>
          <a:xfrm>
            <a:off x="3491843" y="3189684"/>
            <a:ext cx="2214563" cy="621506"/>
          </a:xfrm>
          <a:prstGeom prst="rect">
            <a:avLst/>
          </a:prstGeom>
          <a:noFill/>
          <a:ln/>
        </p:spPr>
        <p:txBody>
          <a:bodyPr wrap="square" lIns="0" tIns="0" rIns="0" bIns="0" rtlCol="0" anchor="t">
            <a:spAutoFit/>
          </a:bodyPr>
          <a:lstStyle/>
          <a:p>
            <a:pPr marL="0" indent="0" algn="just">
              <a:lnSpc>
                <a:spcPts val="1600"/>
              </a:lnSpc>
              <a:buNone/>
            </a:pPr>
            <a:r>
              <a:rPr lang="en-US" sz="1200" dirty="0">
                <a:solidFill>
                  <a:srgbClr val="18181B"/>
                </a:solidFill>
                <a:latin typeface="Inter" pitchFamily="34" charset="0"/>
                <a:ea typeface="Inter" pitchFamily="34" charset="-122"/>
                <a:cs typeface="Inter" pitchFamily="34" charset="-120"/>
              </a:rPr>
              <a:t>Brightness changes from pixel to pixel across space, forming edges and textures.</a:t>
            </a:r>
            <a:endParaRPr lang="en-US" sz="1200" dirty="0"/>
          </a:p>
        </p:txBody>
      </p:sp>
      <p:sp>
        <p:nvSpPr>
          <p:cNvPr id="20" name="Text 17"/>
          <p:cNvSpPr/>
          <p:nvPr/>
        </p:nvSpPr>
        <p:spPr>
          <a:xfrm>
            <a:off x="5778540" y="4014788"/>
            <a:ext cx="232172" cy="500063"/>
          </a:xfrm>
          <a:prstGeom prst="rect">
            <a:avLst/>
          </a:prstGeom>
          <a:noFill/>
          <a:ln/>
        </p:spPr>
        <p:txBody>
          <a:bodyPr wrap="none" lIns="0" tIns="0" rIns="0" bIns="0" rtlCol="0" anchor="t">
            <a:spAutoFit/>
          </a:bodyPr>
          <a:lstStyle/>
          <a:p>
            <a:pPr marL="0" indent="0" algn="l">
              <a:lnSpc>
                <a:spcPts val="3600"/>
              </a:lnSpc>
              <a:buNone/>
            </a:pPr>
            <a:r>
              <a:rPr lang="en-US" sz="2931" dirty="0">
                <a:solidFill>
                  <a:srgbClr val="EA580C"/>
                </a:solidFill>
                <a:latin typeface="IBM Plex Mono" pitchFamily="34" charset="0"/>
                <a:ea typeface="IBM Plex Mono" pitchFamily="34" charset="-122"/>
                <a:cs typeface="IBM Plex Mono" pitchFamily="34" charset="-120"/>
              </a:rPr>
              <a:t>#</a:t>
            </a:r>
            <a:endParaRPr lang="en-US" sz="2931" dirty="0"/>
          </a:p>
        </p:txBody>
      </p:sp>
      <p:sp>
        <p:nvSpPr>
          <p:cNvPr id="21" name="Text 18"/>
          <p:cNvSpPr/>
          <p:nvPr/>
        </p:nvSpPr>
        <p:spPr>
          <a:xfrm>
            <a:off x="6417906" y="2921794"/>
            <a:ext cx="836768" cy="155684"/>
          </a:xfrm>
          <a:prstGeom prst="rect">
            <a:avLst/>
          </a:prstGeom>
          <a:noFill/>
          <a:ln/>
        </p:spPr>
        <p:txBody>
          <a:bodyPr wrap="none" lIns="0" tIns="0" rIns="0" bIns="0" rtlCol="0" anchor="t">
            <a:spAutoFit/>
          </a:bodyPr>
          <a:lstStyle/>
          <a:p>
            <a:pPr marL="0" indent="0" algn="l">
              <a:lnSpc>
                <a:spcPts val="1200"/>
              </a:lnSpc>
              <a:buNone/>
            </a:pPr>
            <a:r>
              <a:rPr lang="en-US" sz="1200" dirty="0">
                <a:solidFill>
                  <a:srgbClr val="0284C7"/>
                </a:solidFill>
                <a:latin typeface="IBM Plex Mono" pitchFamily="34" charset="0"/>
                <a:ea typeface="IBM Plex Mono" pitchFamily="34" charset="-122"/>
                <a:cs typeface="IBM Plex Mono" pitchFamily="34" charset="-120"/>
              </a:rPr>
              <a:t>VIBRATION</a:t>
            </a:r>
            <a:endParaRPr lang="en-US" sz="942" dirty="0"/>
          </a:p>
        </p:txBody>
      </p:sp>
      <p:sp>
        <p:nvSpPr>
          <p:cNvPr id="22" name="Text 19"/>
          <p:cNvSpPr/>
          <p:nvPr/>
        </p:nvSpPr>
        <p:spPr>
          <a:xfrm>
            <a:off x="6417906" y="3189684"/>
            <a:ext cx="2214563" cy="604909"/>
          </a:xfrm>
          <a:prstGeom prst="rect">
            <a:avLst/>
          </a:prstGeom>
          <a:noFill/>
          <a:ln/>
        </p:spPr>
        <p:txBody>
          <a:bodyPr wrap="square" lIns="0" tIns="0" rIns="0" bIns="0" rtlCol="0" anchor="t">
            <a:spAutoFit/>
          </a:bodyPr>
          <a:lstStyle/>
          <a:p>
            <a:pPr marL="0" indent="0" algn="just">
              <a:lnSpc>
                <a:spcPts val="1600"/>
              </a:lnSpc>
              <a:buNone/>
            </a:pPr>
            <a:r>
              <a:rPr lang="en-US" sz="1200" dirty="0">
                <a:solidFill>
                  <a:srgbClr val="18181B"/>
                </a:solidFill>
                <a:latin typeface="Inter" pitchFamily="34" charset="0"/>
                <a:ea typeface="Inter" pitchFamily="34" charset="-122"/>
                <a:cs typeface="Inter" pitchFamily="34" charset="-120"/>
              </a:rPr>
              <a:t>A string or beam bends and rebounds, creating a measurable oscillation.</a:t>
            </a:r>
            <a:endParaRPr lang="en-US" sz="1200" dirty="0"/>
          </a:p>
        </p:txBody>
      </p:sp>
      <p:sp>
        <p:nvSpPr>
          <p:cNvPr id="23" name="Text 20"/>
          <p:cNvSpPr/>
          <p:nvPr/>
        </p:nvSpPr>
        <p:spPr>
          <a:xfrm>
            <a:off x="8247431" y="4014788"/>
            <a:ext cx="696516" cy="500063"/>
          </a:xfrm>
          <a:prstGeom prst="rect">
            <a:avLst/>
          </a:prstGeom>
          <a:noFill/>
          <a:ln/>
        </p:spPr>
        <p:txBody>
          <a:bodyPr wrap="none" lIns="0" tIns="0" rIns="0" bIns="0" rtlCol="0" anchor="t">
            <a:spAutoFit/>
          </a:bodyPr>
          <a:lstStyle/>
          <a:p>
            <a:pPr marL="0" indent="0" algn="l">
              <a:lnSpc>
                <a:spcPts val="3600"/>
              </a:lnSpc>
              <a:buNone/>
            </a:pPr>
            <a:r>
              <a:rPr lang="en-US" sz="2931" dirty="0">
                <a:solidFill>
                  <a:srgbClr val="EA580C"/>
                </a:solidFill>
                <a:latin typeface="IBM Plex Mono" pitchFamily="34" charset="0"/>
                <a:ea typeface="IBM Plex Mono" pitchFamily="34" charset="-122"/>
                <a:cs typeface="IBM Plex Mono" pitchFamily="34" charset="-120"/>
              </a:rPr>
              <a:t>/\/</a:t>
            </a:r>
            <a:endParaRPr lang="en-US" sz="2931" dirty="0"/>
          </a:p>
        </p:txBody>
      </p:sp>
      <p:sp>
        <p:nvSpPr>
          <p:cNvPr id="24" name="Shape 21"/>
          <p:cNvSpPr/>
          <p:nvPr/>
        </p:nvSpPr>
        <p:spPr>
          <a:xfrm>
            <a:off x="0" y="4514850"/>
            <a:ext cx="9144000" cy="628650"/>
          </a:xfrm>
          <a:prstGeom prst="rect">
            <a:avLst/>
          </a:prstGeom>
          <a:solidFill>
            <a:srgbClr val="000000">
              <a:alpha val="0"/>
            </a:srgbClr>
          </a:solidFill>
          <a:ln/>
        </p:spPr>
      </p:sp>
      <p:sp>
        <p:nvSpPr>
          <p:cNvPr id="25" name="Shape 22"/>
          <p:cNvSpPr/>
          <p:nvPr/>
        </p:nvSpPr>
        <p:spPr>
          <a:xfrm>
            <a:off x="0" y="4514850"/>
            <a:ext cx="9144000" cy="7144"/>
          </a:xfrm>
          <a:prstGeom prst="rect">
            <a:avLst/>
          </a:prstGeom>
          <a:solidFill>
            <a:srgbClr val="18181B"/>
          </a:solidFill>
          <a:ln/>
        </p:spPr>
      </p:sp>
      <p:sp>
        <p:nvSpPr>
          <p:cNvPr id="26" name="Text 23"/>
          <p:cNvSpPr/>
          <p:nvPr/>
        </p:nvSpPr>
        <p:spPr>
          <a:xfrm>
            <a:off x="2398008" y="4755482"/>
            <a:ext cx="4402231"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Key idea: </a:t>
            </a:r>
            <a:r>
              <a:rPr lang="en-US" sz="1400" dirty="0">
                <a:solidFill>
                  <a:srgbClr val="3F3F46"/>
                </a:solidFill>
                <a:latin typeface="Inter" pitchFamily="34" charset="0"/>
                <a:ea typeface="Inter" pitchFamily="34" charset="-122"/>
                <a:cs typeface="Inter" pitchFamily="34" charset="-120"/>
              </a:rPr>
              <a:t>Signal processing is the study of structured change.</a:t>
            </a:r>
            <a:endParaRPr lang="en-US" sz="1400" dirty="0"/>
          </a:p>
        </p:txBody>
      </p:sp>
      <p:sp>
        <p:nvSpPr>
          <p:cNvPr id="27" name="Text 24"/>
          <p:cNvSpPr/>
          <p:nvPr/>
        </p:nvSpPr>
        <p:spPr>
          <a:xfrm>
            <a:off x="3656281" y="4731606"/>
            <a:ext cx="65" cy="181973"/>
          </a:xfrm>
          <a:prstGeom prst="rect">
            <a:avLst/>
          </a:prstGeom>
          <a:noFill/>
          <a:ln/>
        </p:spPr>
        <p:txBody>
          <a:bodyPr wrap="none" lIns="0" tIns="0" rIns="0" bIns="0" rtlCol="0" anchor="t">
            <a:spAutoFit/>
          </a:bodyPr>
          <a:lstStyle/>
          <a:p>
            <a:pPr marL="0" indent="0" algn="l">
              <a:lnSpc>
                <a:spcPts val="1400"/>
              </a:lnSpc>
              <a:buNone/>
            </a:pPr>
            <a:endParaRPr lang="en-US" sz="1400" dirty="0"/>
          </a:p>
        </p:txBody>
      </p:sp>
      <p:cxnSp>
        <p:nvCxnSpPr>
          <p:cNvPr id="28" name="Straight Connector 27">
            <a:extLst>
              <a:ext uri="{FF2B5EF4-FFF2-40B4-BE49-F238E27FC236}">
                <a16:creationId xmlns:a16="http://schemas.microsoft.com/office/drawing/2014/main" id="{3B50F492-6BA2-94C9-EA74-A3169C360B6B}"/>
              </a:ext>
            </a:extLst>
          </p:cNvPr>
          <p:cNvCxnSpPr>
            <a:cxnSpLocks/>
          </p:cNvCxnSpPr>
          <p:nvPr/>
        </p:nvCxnSpPr>
        <p:spPr>
          <a:xfrm>
            <a:off x="1685199" y="2714625"/>
            <a:ext cx="0" cy="375047"/>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28688"/>
          </a:xfrm>
          <a:prstGeom prst="rect">
            <a:avLst/>
          </a:prstGeom>
          <a:solidFill>
            <a:srgbClr val="000000">
              <a:alpha val="0"/>
            </a:srgbClr>
          </a:solidFill>
          <a:ln/>
        </p:spPr>
      </p:sp>
      <p:sp>
        <p:nvSpPr>
          <p:cNvPr id="4" name="Shape 1"/>
          <p:cNvSpPr/>
          <p:nvPr/>
        </p:nvSpPr>
        <p:spPr>
          <a:xfrm>
            <a:off x="0" y="921544"/>
            <a:ext cx="9144000" cy="7144"/>
          </a:xfrm>
          <a:prstGeom prst="rect">
            <a:avLst/>
          </a:prstGeom>
          <a:solidFill>
            <a:srgbClr val="18181B"/>
          </a:solidFill>
          <a:ln/>
        </p:spPr>
      </p:sp>
      <p:sp>
        <p:nvSpPr>
          <p:cNvPr id="7" name="Text 4"/>
          <p:cNvSpPr/>
          <p:nvPr/>
        </p:nvSpPr>
        <p:spPr>
          <a:xfrm>
            <a:off x="6445625" y="213508"/>
            <a:ext cx="2698348" cy="564514"/>
          </a:xfrm>
          <a:prstGeom prst="rect">
            <a:avLst/>
          </a:prstGeom>
          <a:noFill/>
          <a:ln/>
        </p:spPr>
        <p:txBody>
          <a:bodyPr wrap="square" lIns="204089" tIns="0" rIns="204089" bIns="0" rtlCol="0" anchor="ctr">
            <a:spAutoFit/>
          </a:bodyPr>
          <a:lstStyle/>
          <a:p>
            <a:pPr marL="0" indent="0" algn="just">
              <a:lnSpc>
                <a:spcPts val="1500"/>
              </a:lnSpc>
              <a:buNone/>
            </a:pPr>
            <a:r>
              <a:rPr lang="en-US" sz="1050" dirty="0">
                <a:solidFill>
                  <a:srgbClr val="3F3F46"/>
                </a:solidFill>
                <a:latin typeface="Inter" pitchFamily="34" charset="0"/>
                <a:ea typeface="Inter" pitchFamily="34" charset="-122"/>
                <a:cs typeface="Inter" pitchFamily="34" charset="-120"/>
              </a:rPr>
              <a:t>Physics and signal processing keep asking the same question: what structure is hidden inside a changing pattern?</a:t>
            </a:r>
            <a:endParaRPr lang="en-US" sz="1050" dirty="0"/>
          </a:p>
        </p:txBody>
      </p:sp>
      <p:sp>
        <p:nvSpPr>
          <p:cNvPr id="8" name="Text 5"/>
          <p:cNvSpPr/>
          <p:nvPr/>
        </p:nvSpPr>
        <p:spPr>
          <a:xfrm>
            <a:off x="342900" y="1257300"/>
            <a:ext cx="2318845" cy="856838"/>
          </a:xfrm>
          <a:prstGeom prst="rect">
            <a:avLst/>
          </a:prstGeom>
          <a:noFill/>
          <a:ln/>
        </p:spPr>
        <p:txBody>
          <a:bodyPr wrap="square" lIns="0" tIns="0" rIns="0" bIns="0" rtlCol="0" anchor="t">
            <a:spAutoFit/>
          </a:bodyPr>
          <a:lstStyle/>
          <a:p>
            <a:pPr marL="0" indent="0" algn="just">
              <a:lnSpc>
                <a:spcPts val="2300"/>
              </a:lnSpc>
              <a:buNone/>
            </a:pPr>
            <a:r>
              <a:rPr lang="en-US" sz="1350" dirty="0">
                <a:solidFill>
                  <a:srgbClr val="18181B"/>
                </a:solidFill>
                <a:latin typeface="Inter" pitchFamily="34" charset="0"/>
                <a:ea typeface="Inter" pitchFamily="34" charset="-122"/>
                <a:cs typeface="Inter" pitchFamily="34" charset="-120"/>
              </a:rPr>
              <a:t>When a physical system changes in </a:t>
            </a:r>
            <a:r>
              <a:rPr lang="en-US" sz="1350" b="1" dirty="0">
                <a:solidFill>
                  <a:srgbClr val="EA580C"/>
                </a:solidFill>
                <a:latin typeface="Inter" pitchFamily="34" charset="0"/>
                <a:ea typeface="Inter" pitchFamily="34" charset="-122"/>
                <a:cs typeface="Inter" pitchFamily="34" charset="-120"/>
              </a:rPr>
              <a:t>time</a:t>
            </a:r>
            <a:r>
              <a:rPr lang="en-US" sz="1350" dirty="0">
                <a:solidFill>
                  <a:srgbClr val="18181B"/>
                </a:solidFill>
                <a:latin typeface="Inter" pitchFamily="34" charset="0"/>
                <a:ea typeface="Inter" pitchFamily="34" charset="-122"/>
                <a:cs typeface="Inter" pitchFamily="34" charset="-120"/>
              </a:rPr>
              <a:t> or across </a:t>
            </a:r>
            <a:r>
              <a:rPr lang="en-US" sz="1350" b="1" dirty="0">
                <a:solidFill>
                  <a:srgbClr val="EA580C"/>
                </a:solidFill>
                <a:latin typeface="Inter" pitchFamily="34" charset="0"/>
                <a:ea typeface="Inter" pitchFamily="34" charset="-122"/>
                <a:cs typeface="Inter" pitchFamily="34" charset="-120"/>
              </a:rPr>
              <a:t>space</a:t>
            </a:r>
            <a:r>
              <a:rPr lang="en-US" sz="1350" dirty="0">
                <a:solidFill>
                  <a:srgbClr val="18181B"/>
                </a:solidFill>
                <a:latin typeface="Inter" pitchFamily="34" charset="0"/>
                <a:ea typeface="Inter" pitchFamily="34" charset="-122"/>
                <a:cs typeface="Inter" pitchFamily="34" charset="-120"/>
              </a:rPr>
              <a:t>, it can be analyzed as a signal.</a:t>
            </a:r>
            <a:endParaRPr lang="en-US" sz="1350" dirty="0"/>
          </a:p>
        </p:txBody>
      </p:sp>
      <p:sp>
        <p:nvSpPr>
          <p:cNvPr id="9" name="Text 6"/>
          <p:cNvSpPr/>
          <p:nvPr/>
        </p:nvSpPr>
        <p:spPr>
          <a:xfrm>
            <a:off x="342900" y="2904576"/>
            <a:ext cx="2318845" cy="1217064"/>
          </a:xfrm>
          <a:prstGeom prst="rect">
            <a:avLst/>
          </a:prstGeom>
          <a:noFill/>
          <a:ln/>
        </p:spPr>
        <p:txBody>
          <a:bodyPr wrap="square" lIns="0" tIns="0" rIns="0"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That is why the same mathematical ideas appear in acoustics, heat flow, circuits, optics, and vibration. The language changes, but the pattern-reading problem stays remarkably similar.</a:t>
            </a:r>
            <a:endParaRPr lang="en-US" sz="1100" dirty="0"/>
          </a:p>
        </p:txBody>
      </p:sp>
      <p:sp>
        <p:nvSpPr>
          <p:cNvPr id="10" name="Text 7"/>
          <p:cNvSpPr/>
          <p:nvPr/>
        </p:nvSpPr>
        <p:spPr>
          <a:xfrm>
            <a:off x="3097513" y="1128713"/>
            <a:ext cx="1722593" cy="179536"/>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0284C7"/>
                </a:solidFill>
                <a:latin typeface="IBM Plex Mono" pitchFamily="34" charset="0"/>
                <a:ea typeface="IBM Plex Mono" pitchFamily="34" charset="-122"/>
                <a:cs typeface="IBM Plex Mono" pitchFamily="34" charset="-120"/>
              </a:rPr>
              <a:t>HEAT FLOW</a:t>
            </a:r>
            <a:endParaRPr lang="en-US" sz="1200" dirty="0"/>
          </a:p>
        </p:txBody>
      </p:sp>
      <p:sp>
        <p:nvSpPr>
          <p:cNvPr id="11" name="Text 8"/>
          <p:cNvSpPr/>
          <p:nvPr/>
        </p:nvSpPr>
        <p:spPr>
          <a:xfrm>
            <a:off x="3097513" y="1771650"/>
            <a:ext cx="1722593" cy="505420"/>
          </a:xfrm>
          <a:prstGeom prst="rect">
            <a:avLst/>
          </a:prstGeom>
          <a:noFill/>
          <a:ln/>
        </p:spPr>
        <p:txBody>
          <a:bodyPr wrap="none" lIns="0" tIns="0" rIns="0" bIns="0" rtlCol="0" anchor="t">
            <a:spAutoFit/>
          </a:bodyPr>
          <a:lstStyle/>
          <a:p>
            <a:pPr marL="0" indent="0" algn="l">
              <a:lnSpc>
                <a:spcPts val="3500"/>
              </a:lnSpc>
              <a:buNone/>
            </a:pPr>
            <a:r>
              <a:rPr lang="en-US" sz="2818" dirty="0">
                <a:solidFill>
                  <a:srgbClr val="EA580C"/>
                </a:solidFill>
                <a:latin typeface="IBM Plex Mono" pitchFamily="34" charset="0"/>
                <a:ea typeface="IBM Plex Mono" pitchFamily="34" charset="-122"/>
                <a:cs typeface="IBM Plex Mono" pitchFamily="34" charset="-120"/>
              </a:rPr>
              <a:t>≋</a:t>
            </a:r>
            <a:endParaRPr lang="en-US" sz="2818" dirty="0"/>
          </a:p>
        </p:txBody>
      </p:sp>
      <p:sp>
        <p:nvSpPr>
          <p:cNvPr id="12" name="Text 9"/>
          <p:cNvSpPr/>
          <p:nvPr/>
        </p:nvSpPr>
        <p:spPr>
          <a:xfrm>
            <a:off x="3097513" y="2362795"/>
            <a:ext cx="1722593" cy="1294200"/>
          </a:xfrm>
          <a:prstGeom prst="rect">
            <a:avLst/>
          </a:prstGeom>
          <a:noFill/>
          <a:ln/>
        </p:spPr>
        <p:txBody>
          <a:bodyPr wrap="square" lIns="0" tIns="0" rIns="0" bIns="0" rtlCol="0" anchor="t">
            <a:spAutoFit/>
          </a:bodyPr>
          <a:lstStyle/>
          <a:p>
            <a:pPr marL="0" indent="0" algn="just">
              <a:lnSpc>
                <a:spcPts val="1700"/>
              </a:lnSpc>
              <a:buNone/>
            </a:pPr>
            <a:r>
              <a:rPr lang="en-US" sz="1200" dirty="0">
                <a:solidFill>
                  <a:srgbClr val="18181B"/>
                </a:solidFill>
                <a:latin typeface="Inter" pitchFamily="34" charset="0"/>
                <a:ea typeface="Inter" pitchFamily="34" charset="-122"/>
                <a:cs typeface="Inter" pitchFamily="34" charset="-120"/>
              </a:rPr>
              <a:t>Temperature spreads through material. The pattern smooths and evolves, so we ask how fast and at what scale the variation changes.</a:t>
            </a:r>
            <a:endParaRPr lang="en-US" sz="1200" dirty="0"/>
          </a:p>
        </p:txBody>
      </p:sp>
      <p:sp>
        <p:nvSpPr>
          <p:cNvPr id="13" name="Text 10"/>
          <p:cNvSpPr/>
          <p:nvPr/>
        </p:nvSpPr>
        <p:spPr>
          <a:xfrm>
            <a:off x="3097513" y="3886200"/>
            <a:ext cx="1722593" cy="344646"/>
          </a:xfrm>
          <a:prstGeom prst="rect">
            <a:avLst/>
          </a:prstGeom>
          <a:noFill/>
          <a:ln/>
        </p:spPr>
        <p:txBody>
          <a:bodyPr wrap="square" lIns="0" tIns="0" rIns="0" bIns="0" rtlCol="0" anchor="t">
            <a:spAutoFit/>
          </a:bodyPr>
          <a:lstStyle/>
          <a:p>
            <a:pPr marL="0" indent="0" algn="just">
              <a:lnSpc>
                <a:spcPts val="1400"/>
              </a:lnSpc>
              <a:buNone/>
            </a:pPr>
            <a:r>
              <a:rPr lang="en-US" sz="900" dirty="0">
                <a:solidFill>
                  <a:srgbClr val="3F3F46"/>
                </a:solidFill>
                <a:latin typeface="Inter" pitchFamily="34" charset="0"/>
                <a:ea typeface="Inter" pitchFamily="34" charset="-122"/>
                <a:cs typeface="Inter" pitchFamily="34" charset="-120"/>
              </a:rPr>
              <a:t>What parts are broad trends, and what parts are fine fluctuations?</a:t>
            </a:r>
            <a:endParaRPr lang="en-US" sz="900" dirty="0"/>
          </a:p>
        </p:txBody>
      </p:sp>
      <p:sp>
        <p:nvSpPr>
          <p:cNvPr id="14" name="Text 11"/>
          <p:cNvSpPr/>
          <p:nvPr/>
        </p:nvSpPr>
        <p:spPr>
          <a:xfrm>
            <a:off x="5170150" y="1128713"/>
            <a:ext cx="1722593" cy="179536"/>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0284C7"/>
                </a:solidFill>
                <a:latin typeface="IBM Plex Mono" pitchFamily="34" charset="0"/>
                <a:ea typeface="IBM Plex Mono" pitchFamily="34" charset="-122"/>
                <a:cs typeface="IBM Plex Mono" pitchFamily="34" charset="-120"/>
              </a:rPr>
              <a:t>VIBRATING STRING</a:t>
            </a:r>
            <a:endParaRPr lang="en-US" sz="1200" dirty="0"/>
          </a:p>
        </p:txBody>
      </p:sp>
      <p:sp>
        <p:nvSpPr>
          <p:cNvPr id="15" name="Text 12"/>
          <p:cNvSpPr/>
          <p:nvPr/>
        </p:nvSpPr>
        <p:spPr>
          <a:xfrm>
            <a:off x="5170150" y="1771650"/>
            <a:ext cx="1722593" cy="482203"/>
          </a:xfrm>
          <a:prstGeom prst="rect">
            <a:avLst/>
          </a:prstGeom>
          <a:noFill/>
          <a:ln/>
        </p:spPr>
        <p:txBody>
          <a:bodyPr wrap="none" lIns="0" tIns="0" rIns="0" bIns="0" rtlCol="0" anchor="t">
            <a:spAutoFit/>
          </a:bodyPr>
          <a:lstStyle/>
          <a:p>
            <a:pPr marL="0" indent="0" algn="l">
              <a:lnSpc>
                <a:spcPts val="3500"/>
              </a:lnSpc>
              <a:buNone/>
            </a:pPr>
            <a:r>
              <a:rPr lang="en-US" sz="2818" dirty="0">
                <a:solidFill>
                  <a:srgbClr val="EA580C"/>
                </a:solidFill>
                <a:latin typeface="IBM Plex Mono" pitchFamily="34" charset="0"/>
                <a:ea typeface="IBM Plex Mono" pitchFamily="34" charset="-122"/>
                <a:cs typeface="IBM Plex Mono" pitchFamily="34" charset="-120"/>
              </a:rPr>
              <a:t>/\/</a:t>
            </a:r>
            <a:endParaRPr lang="en-US" sz="2818" dirty="0"/>
          </a:p>
        </p:txBody>
      </p:sp>
      <p:sp>
        <p:nvSpPr>
          <p:cNvPr id="16" name="Text 13"/>
          <p:cNvSpPr/>
          <p:nvPr/>
        </p:nvSpPr>
        <p:spPr>
          <a:xfrm>
            <a:off x="5170150" y="2339578"/>
            <a:ext cx="1722593" cy="1076192"/>
          </a:xfrm>
          <a:prstGeom prst="rect">
            <a:avLst/>
          </a:prstGeom>
          <a:noFill/>
          <a:ln/>
        </p:spPr>
        <p:txBody>
          <a:bodyPr wrap="square" lIns="0" tIns="0" rIns="0" bIns="0" rtlCol="0" anchor="t">
            <a:spAutoFit/>
          </a:bodyPr>
          <a:lstStyle/>
          <a:p>
            <a:pPr marL="0" indent="0" algn="just">
              <a:lnSpc>
                <a:spcPts val="1700"/>
              </a:lnSpc>
              <a:buNone/>
            </a:pPr>
            <a:r>
              <a:rPr lang="en-US" sz="1200" dirty="0">
                <a:solidFill>
                  <a:srgbClr val="18181B"/>
                </a:solidFill>
                <a:latin typeface="Inter" pitchFamily="34" charset="0"/>
                <a:ea typeface="Inter" pitchFamily="34" charset="-122"/>
                <a:cs typeface="Inter" pitchFamily="34" charset="-120"/>
              </a:rPr>
              <a:t>A plucked string never moves as one perfectly simple shape. It contains multiple modes of motion at once.</a:t>
            </a:r>
            <a:endParaRPr lang="en-US" sz="1200" dirty="0"/>
          </a:p>
        </p:txBody>
      </p:sp>
      <p:sp>
        <p:nvSpPr>
          <p:cNvPr id="17" name="Text 14"/>
          <p:cNvSpPr/>
          <p:nvPr/>
        </p:nvSpPr>
        <p:spPr>
          <a:xfrm>
            <a:off x="5170150" y="3886200"/>
            <a:ext cx="1722593" cy="344646"/>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3F3F46"/>
                </a:solidFill>
                <a:latin typeface="Inter" pitchFamily="34" charset="0"/>
                <a:ea typeface="Inter" pitchFamily="34" charset="-122"/>
                <a:cs typeface="Inter" pitchFamily="34" charset="-120"/>
              </a:rPr>
              <a:t>Which modes dominate, and which decay quickly?</a:t>
            </a:r>
            <a:endParaRPr lang="en-US" sz="900" dirty="0"/>
          </a:p>
        </p:txBody>
      </p:sp>
      <p:sp>
        <p:nvSpPr>
          <p:cNvPr id="18" name="Text 15"/>
          <p:cNvSpPr/>
          <p:nvPr/>
        </p:nvSpPr>
        <p:spPr>
          <a:xfrm>
            <a:off x="7242786" y="1128713"/>
            <a:ext cx="1729736" cy="179536"/>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0284C7"/>
                </a:solidFill>
                <a:latin typeface="IBM Plex Mono" pitchFamily="34" charset="0"/>
                <a:ea typeface="IBM Plex Mono" pitchFamily="34" charset="-122"/>
                <a:cs typeface="IBM Plex Mono" pitchFamily="34" charset="-120"/>
              </a:rPr>
              <a:t>CIRCUITS &amp; WAVES</a:t>
            </a:r>
            <a:endParaRPr lang="en-US" sz="1200" dirty="0"/>
          </a:p>
        </p:txBody>
      </p:sp>
      <p:sp>
        <p:nvSpPr>
          <p:cNvPr id="19" name="Text 16"/>
          <p:cNvSpPr/>
          <p:nvPr/>
        </p:nvSpPr>
        <p:spPr>
          <a:xfrm>
            <a:off x="7242786" y="1771650"/>
            <a:ext cx="1729736" cy="482203"/>
          </a:xfrm>
          <a:prstGeom prst="rect">
            <a:avLst/>
          </a:prstGeom>
          <a:noFill/>
          <a:ln/>
        </p:spPr>
        <p:txBody>
          <a:bodyPr wrap="none" lIns="0" tIns="0" rIns="0" bIns="0" rtlCol="0" anchor="t">
            <a:spAutoFit/>
          </a:bodyPr>
          <a:lstStyle/>
          <a:p>
            <a:pPr marL="0" indent="0" algn="l">
              <a:lnSpc>
                <a:spcPts val="3500"/>
              </a:lnSpc>
              <a:buNone/>
            </a:pPr>
            <a:r>
              <a:rPr lang="en-US" sz="2818" dirty="0">
                <a:solidFill>
                  <a:srgbClr val="EA580C"/>
                </a:solidFill>
                <a:latin typeface="IBM Plex Mono" pitchFamily="34" charset="0"/>
                <a:ea typeface="IBM Plex Mono" pitchFamily="34" charset="-122"/>
                <a:cs typeface="IBM Plex Mono" pitchFamily="34" charset="-120"/>
              </a:rPr>
              <a:t>∿</a:t>
            </a:r>
            <a:endParaRPr lang="en-US" sz="2818" dirty="0"/>
          </a:p>
        </p:txBody>
      </p:sp>
      <p:sp>
        <p:nvSpPr>
          <p:cNvPr id="20" name="Text 17"/>
          <p:cNvSpPr/>
          <p:nvPr/>
        </p:nvSpPr>
        <p:spPr>
          <a:xfrm>
            <a:off x="7242786" y="2339578"/>
            <a:ext cx="1729736" cy="1076192"/>
          </a:xfrm>
          <a:prstGeom prst="rect">
            <a:avLst/>
          </a:prstGeom>
          <a:noFill/>
          <a:ln/>
        </p:spPr>
        <p:txBody>
          <a:bodyPr wrap="square" lIns="0" tIns="0" rIns="0" bIns="0" rtlCol="0" anchor="t">
            <a:spAutoFit/>
          </a:bodyPr>
          <a:lstStyle/>
          <a:p>
            <a:pPr marL="0" indent="0" algn="just">
              <a:lnSpc>
                <a:spcPts val="1700"/>
              </a:lnSpc>
              <a:buNone/>
            </a:pPr>
            <a:r>
              <a:rPr lang="en-US" sz="1200" dirty="0">
                <a:solidFill>
                  <a:srgbClr val="18181B"/>
                </a:solidFill>
                <a:latin typeface="Inter" pitchFamily="34" charset="0"/>
                <a:ea typeface="Inter" pitchFamily="34" charset="-122"/>
                <a:cs typeface="Inter" pitchFamily="34" charset="-120"/>
              </a:rPr>
              <a:t>Voltages, currents, and traveling waves respond differently to slow and fast changes, making frequency a natural lens.</a:t>
            </a:r>
            <a:endParaRPr lang="en-US" sz="1200" dirty="0"/>
          </a:p>
        </p:txBody>
      </p:sp>
      <p:sp>
        <p:nvSpPr>
          <p:cNvPr id="21" name="Text 18"/>
          <p:cNvSpPr/>
          <p:nvPr/>
        </p:nvSpPr>
        <p:spPr>
          <a:xfrm>
            <a:off x="7242786" y="3886200"/>
            <a:ext cx="1729736" cy="344646"/>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3F3F46"/>
                </a:solidFill>
                <a:latin typeface="Inter" pitchFamily="34" charset="0"/>
                <a:ea typeface="Inter" pitchFamily="34" charset="-122"/>
                <a:cs typeface="Inter" pitchFamily="34" charset="-120"/>
              </a:rPr>
              <a:t>Which frequencies pass through, and which are weakened?</a:t>
            </a:r>
            <a:endParaRPr lang="en-US" sz="900" dirty="0"/>
          </a:p>
        </p:txBody>
      </p:sp>
      <p:sp>
        <p:nvSpPr>
          <p:cNvPr id="22" name="Shape 19"/>
          <p:cNvSpPr/>
          <p:nvPr/>
        </p:nvSpPr>
        <p:spPr>
          <a:xfrm>
            <a:off x="0" y="4500563"/>
            <a:ext cx="9144000" cy="642938"/>
          </a:xfrm>
          <a:prstGeom prst="rect">
            <a:avLst/>
          </a:prstGeom>
          <a:solidFill>
            <a:srgbClr val="000000">
              <a:alpha val="0"/>
            </a:srgbClr>
          </a:solidFill>
          <a:ln/>
        </p:spPr>
      </p:sp>
      <p:sp>
        <p:nvSpPr>
          <p:cNvPr id="23" name="Shape 20"/>
          <p:cNvSpPr/>
          <p:nvPr/>
        </p:nvSpPr>
        <p:spPr>
          <a:xfrm>
            <a:off x="0" y="4500563"/>
            <a:ext cx="9144000" cy="7144"/>
          </a:xfrm>
          <a:prstGeom prst="rect">
            <a:avLst/>
          </a:prstGeom>
          <a:solidFill>
            <a:srgbClr val="18181B"/>
          </a:solidFill>
          <a:ln/>
        </p:spPr>
      </p:sp>
      <p:sp>
        <p:nvSpPr>
          <p:cNvPr id="26" name="Text 2">
            <a:extLst>
              <a:ext uri="{FF2B5EF4-FFF2-40B4-BE49-F238E27FC236}">
                <a16:creationId xmlns:a16="http://schemas.microsoft.com/office/drawing/2014/main" id="{E772CFAA-BC89-A66A-696A-56419E6E87CB}"/>
              </a:ext>
            </a:extLst>
          </p:cNvPr>
          <p:cNvSpPr/>
          <p:nvPr/>
        </p:nvSpPr>
        <p:spPr>
          <a:xfrm>
            <a:off x="342899" y="141536"/>
            <a:ext cx="899733"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WHY PHYSICS FITS</a:t>
            </a:r>
            <a:endParaRPr lang="en-US" sz="727" dirty="0"/>
          </a:p>
        </p:txBody>
      </p:sp>
      <p:sp>
        <p:nvSpPr>
          <p:cNvPr id="27" name="Text 3">
            <a:extLst>
              <a:ext uri="{FF2B5EF4-FFF2-40B4-BE49-F238E27FC236}">
                <a16:creationId xmlns:a16="http://schemas.microsoft.com/office/drawing/2014/main" id="{CB4035A1-F70B-215C-0F57-E10F8C4F302E}"/>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Much of physics is really the study of evolving signals</a:t>
            </a:r>
            <a:endParaRPr lang="en-US" sz="1602" dirty="0"/>
          </a:p>
        </p:txBody>
      </p:sp>
      <p:sp>
        <p:nvSpPr>
          <p:cNvPr id="29" name="Text 23">
            <a:extLst>
              <a:ext uri="{FF2B5EF4-FFF2-40B4-BE49-F238E27FC236}">
                <a16:creationId xmlns:a16="http://schemas.microsoft.com/office/drawing/2014/main" id="{92600BCD-7770-6B03-4BB1-6E776210643F}"/>
              </a:ext>
            </a:extLst>
          </p:cNvPr>
          <p:cNvSpPr/>
          <p:nvPr/>
        </p:nvSpPr>
        <p:spPr>
          <a:xfrm>
            <a:off x="1150255" y="4734584"/>
            <a:ext cx="7339702"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Takeaway: </a:t>
            </a:r>
            <a:r>
              <a:rPr lang="en-US" sz="1400" dirty="0">
                <a:solidFill>
                  <a:srgbClr val="3F3F46"/>
                </a:solidFill>
                <a:latin typeface="Inter" pitchFamily="34" charset="0"/>
                <a:ea typeface="Inter" pitchFamily="34" charset="-122"/>
                <a:cs typeface="Inter" pitchFamily="34" charset="-120"/>
              </a:rPr>
              <a:t>Frequency thinking is not just for audio—it is a general way to analyze physical behavior.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0" y="1086756"/>
            <a:ext cx="5296365" cy="141064"/>
          </a:xfrm>
          <a:prstGeom prst="rect">
            <a:avLst/>
          </a:prstGeom>
          <a:noFill/>
          <a:ln/>
        </p:spPr>
        <p:txBody>
          <a:bodyPr wrap="square" lIns="0" tIns="0" rIns="0" bIns="0" rtlCol="0" anchor="ctr">
            <a:spAutoFit/>
          </a:bodyPr>
          <a:lstStyle/>
          <a:p>
            <a:pPr marL="0" indent="0" algn="ctr">
              <a:lnSpc>
                <a:spcPts val="1100"/>
              </a:lnSpc>
              <a:buNone/>
            </a:pPr>
            <a:r>
              <a:rPr lang="en-US" sz="1000" dirty="0">
                <a:solidFill>
                  <a:srgbClr val="3F3F46"/>
                </a:solidFill>
                <a:latin typeface="IBM Plex Mono" pitchFamily="34" charset="0"/>
                <a:ea typeface="IBM Plex Mono" pitchFamily="34" charset="-122"/>
                <a:cs typeface="IBM Plex Mono" pitchFamily="34" charset="-120"/>
              </a:rPr>
              <a:t>One waveform can contain many kinds of structure at the same time</a:t>
            </a:r>
            <a:endParaRPr lang="en-US" sz="1000" dirty="0"/>
          </a:p>
        </p:txBody>
      </p:sp>
      <p:sp>
        <p:nvSpPr>
          <p:cNvPr id="8" name="Text 5"/>
          <p:cNvSpPr/>
          <p:nvPr/>
        </p:nvSpPr>
        <p:spPr>
          <a:xfrm>
            <a:off x="0" y="1848636"/>
            <a:ext cx="1271113" cy="146066"/>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TREND</a:t>
            </a:r>
            <a:endParaRPr lang="en-US" sz="1200" dirty="0"/>
          </a:p>
        </p:txBody>
      </p:sp>
      <p:sp>
        <p:nvSpPr>
          <p:cNvPr id="9" name="Text 6"/>
          <p:cNvSpPr/>
          <p:nvPr/>
        </p:nvSpPr>
        <p:spPr>
          <a:xfrm>
            <a:off x="0" y="2870192"/>
            <a:ext cx="1271113" cy="146066"/>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REPETITION</a:t>
            </a:r>
            <a:endParaRPr lang="en-US" sz="1200" dirty="0"/>
          </a:p>
        </p:txBody>
      </p:sp>
      <p:sp>
        <p:nvSpPr>
          <p:cNvPr id="10" name="Text 7"/>
          <p:cNvSpPr/>
          <p:nvPr/>
        </p:nvSpPr>
        <p:spPr>
          <a:xfrm>
            <a:off x="1428276" y="2814638"/>
            <a:ext cx="257175" cy="257175"/>
          </a:xfrm>
          <a:prstGeom prst="rect">
            <a:avLst/>
          </a:prstGeom>
          <a:noFill/>
          <a:ln/>
        </p:spPr>
        <p:txBody>
          <a:bodyPr wrap="square" lIns="0" tIns="0" rIns="0" bIns="0" rtlCol="0" anchor="ctr">
            <a:spAutoFit/>
          </a:bodyPr>
          <a:lstStyle/>
          <a:p>
            <a:pPr marL="0" indent="0" algn="ctr">
              <a:lnSpc>
                <a:spcPts val="1100"/>
              </a:lnSpc>
              <a:buNone/>
            </a:pPr>
            <a:r>
              <a:rPr lang="en-US" sz="834" dirty="0">
                <a:solidFill>
                  <a:srgbClr val="EA580C"/>
                </a:solidFill>
                <a:latin typeface="IBM Plex Mono" pitchFamily="34" charset="0"/>
                <a:ea typeface="IBM Plex Mono" pitchFamily="34" charset="-122"/>
                <a:cs typeface="IBM Plex Mono" pitchFamily="34" charset="-120"/>
              </a:rPr>
              <a:t>~</a:t>
            </a:r>
            <a:endParaRPr lang="en-US" sz="834" dirty="0"/>
          </a:p>
        </p:txBody>
      </p:sp>
      <p:sp>
        <p:nvSpPr>
          <p:cNvPr id="11" name="Text 8"/>
          <p:cNvSpPr/>
          <p:nvPr/>
        </p:nvSpPr>
        <p:spPr>
          <a:xfrm>
            <a:off x="1799751" y="2814638"/>
            <a:ext cx="257175" cy="257175"/>
          </a:xfrm>
          <a:prstGeom prst="rect">
            <a:avLst/>
          </a:prstGeom>
          <a:noFill/>
          <a:ln/>
        </p:spPr>
        <p:txBody>
          <a:bodyPr wrap="square" lIns="0" tIns="0" rIns="0" bIns="0" rtlCol="0" anchor="ctr">
            <a:spAutoFit/>
          </a:bodyPr>
          <a:lstStyle/>
          <a:p>
            <a:pPr marL="0" indent="0" algn="ctr">
              <a:lnSpc>
                <a:spcPts val="1100"/>
              </a:lnSpc>
              <a:buNone/>
            </a:pPr>
            <a:r>
              <a:rPr lang="en-US" sz="834" dirty="0">
                <a:solidFill>
                  <a:srgbClr val="EA580C"/>
                </a:solidFill>
                <a:latin typeface="IBM Plex Mono" pitchFamily="34" charset="0"/>
                <a:ea typeface="IBM Plex Mono" pitchFamily="34" charset="-122"/>
                <a:cs typeface="IBM Plex Mono" pitchFamily="34" charset="-120"/>
              </a:rPr>
              <a:t>~</a:t>
            </a:r>
            <a:endParaRPr lang="en-US" sz="834" dirty="0"/>
          </a:p>
        </p:txBody>
      </p:sp>
      <p:sp>
        <p:nvSpPr>
          <p:cNvPr id="12" name="Text 9"/>
          <p:cNvSpPr/>
          <p:nvPr/>
        </p:nvSpPr>
        <p:spPr>
          <a:xfrm>
            <a:off x="2171226" y="2814638"/>
            <a:ext cx="257175" cy="257175"/>
          </a:xfrm>
          <a:prstGeom prst="rect">
            <a:avLst/>
          </a:prstGeom>
          <a:noFill/>
          <a:ln/>
        </p:spPr>
        <p:txBody>
          <a:bodyPr wrap="square" lIns="0" tIns="0" rIns="0" bIns="0" rtlCol="0" anchor="ctr">
            <a:spAutoFit/>
          </a:bodyPr>
          <a:lstStyle/>
          <a:p>
            <a:pPr marL="0" indent="0" algn="ctr">
              <a:lnSpc>
                <a:spcPts val="1100"/>
              </a:lnSpc>
              <a:buNone/>
            </a:pPr>
            <a:r>
              <a:rPr lang="en-US" sz="834" dirty="0">
                <a:solidFill>
                  <a:srgbClr val="EA580C"/>
                </a:solidFill>
                <a:latin typeface="IBM Plex Mono" pitchFamily="34" charset="0"/>
                <a:ea typeface="IBM Plex Mono" pitchFamily="34" charset="-122"/>
                <a:cs typeface="IBM Plex Mono" pitchFamily="34" charset="-120"/>
              </a:rPr>
              <a:t>~</a:t>
            </a:r>
            <a:endParaRPr lang="en-US" sz="834" dirty="0"/>
          </a:p>
        </p:txBody>
      </p:sp>
      <p:sp>
        <p:nvSpPr>
          <p:cNvPr id="13" name="Text 10"/>
          <p:cNvSpPr/>
          <p:nvPr/>
        </p:nvSpPr>
        <p:spPr>
          <a:xfrm>
            <a:off x="2542701" y="2814638"/>
            <a:ext cx="257175" cy="257175"/>
          </a:xfrm>
          <a:prstGeom prst="rect">
            <a:avLst/>
          </a:prstGeom>
          <a:noFill/>
          <a:ln/>
        </p:spPr>
        <p:txBody>
          <a:bodyPr wrap="square" lIns="0" tIns="0" rIns="0" bIns="0" rtlCol="0" anchor="ctr">
            <a:spAutoFit/>
          </a:bodyPr>
          <a:lstStyle/>
          <a:p>
            <a:pPr marL="0" indent="0" algn="ctr">
              <a:lnSpc>
                <a:spcPts val="1100"/>
              </a:lnSpc>
              <a:buNone/>
            </a:pPr>
            <a:r>
              <a:rPr lang="en-US" sz="834" dirty="0">
                <a:solidFill>
                  <a:srgbClr val="EA580C"/>
                </a:solidFill>
                <a:latin typeface="IBM Plex Mono" pitchFamily="34" charset="0"/>
                <a:ea typeface="IBM Plex Mono" pitchFamily="34" charset="-122"/>
                <a:cs typeface="IBM Plex Mono" pitchFamily="34" charset="-120"/>
              </a:rPr>
              <a:t>~</a:t>
            </a:r>
            <a:endParaRPr lang="en-US" sz="834" dirty="0"/>
          </a:p>
        </p:txBody>
      </p:sp>
      <p:sp>
        <p:nvSpPr>
          <p:cNvPr id="14" name="Text 11"/>
          <p:cNvSpPr/>
          <p:nvPr/>
        </p:nvSpPr>
        <p:spPr>
          <a:xfrm>
            <a:off x="2914176" y="2814638"/>
            <a:ext cx="257175" cy="257175"/>
          </a:xfrm>
          <a:prstGeom prst="rect">
            <a:avLst/>
          </a:prstGeom>
          <a:noFill/>
          <a:ln/>
        </p:spPr>
        <p:txBody>
          <a:bodyPr wrap="square" lIns="0" tIns="0" rIns="0" bIns="0" rtlCol="0" anchor="ctr">
            <a:spAutoFit/>
          </a:bodyPr>
          <a:lstStyle/>
          <a:p>
            <a:pPr marL="0" indent="0" algn="ctr">
              <a:lnSpc>
                <a:spcPts val="1100"/>
              </a:lnSpc>
              <a:buNone/>
            </a:pPr>
            <a:r>
              <a:rPr lang="en-US" sz="834" dirty="0">
                <a:solidFill>
                  <a:srgbClr val="EA580C"/>
                </a:solidFill>
                <a:latin typeface="IBM Plex Mono" pitchFamily="34" charset="0"/>
                <a:ea typeface="IBM Plex Mono" pitchFamily="34" charset="-122"/>
                <a:cs typeface="IBM Plex Mono" pitchFamily="34" charset="-120"/>
              </a:rPr>
              <a:t>~</a:t>
            </a:r>
            <a:endParaRPr lang="en-US" sz="834" dirty="0"/>
          </a:p>
        </p:txBody>
      </p:sp>
      <p:sp>
        <p:nvSpPr>
          <p:cNvPr id="15" name="Text 12"/>
          <p:cNvSpPr/>
          <p:nvPr/>
        </p:nvSpPr>
        <p:spPr>
          <a:xfrm>
            <a:off x="3285651" y="2814638"/>
            <a:ext cx="257175" cy="257175"/>
          </a:xfrm>
          <a:prstGeom prst="rect">
            <a:avLst/>
          </a:prstGeom>
          <a:noFill/>
          <a:ln/>
        </p:spPr>
        <p:txBody>
          <a:bodyPr wrap="square" lIns="0" tIns="0" rIns="0" bIns="0" rtlCol="0" anchor="ctr">
            <a:spAutoFit/>
          </a:bodyPr>
          <a:lstStyle/>
          <a:p>
            <a:pPr marL="0" indent="0" algn="ctr">
              <a:lnSpc>
                <a:spcPts val="1100"/>
              </a:lnSpc>
              <a:buNone/>
            </a:pPr>
            <a:r>
              <a:rPr lang="en-US" sz="834" dirty="0">
                <a:solidFill>
                  <a:srgbClr val="EA580C"/>
                </a:solidFill>
                <a:latin typeface="IBM Plex Mono" pitchFamily="34" charset="0"/>
                <a:ea typeface="IBM Plex Mono" pitchFamily="34" charset="-122"/>
                <a:cs typeface="IBM Plex Mono" pitchFamily="34" charset="-120"/>
              </a:rPr>
              <a:t>~</a:t>
            </a:r>
            <a:endParaRPr lang="en-US" sz="834" dirty="0"/>
          </a:p>
        </p:txBody>
      </p:sp>
      <p:sp>
        <p:nvSpPr>
          <p:cNvPr id="16" name="Text 13"/>
          <p:cNvSpPr/>
          <p:nvPr/>
        </p:nvSpPr>
        <p:spPr>
          <a:xfrm>
            <a:off x="0" y="3895320"/>
            <a:ext cx="1271113" cy="146066"/>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NOISE</a:t>
            </a:r>
            <a:endParaRPr lang="en-US" sz="1200" dirty="0"/>
          </a:p>
        </p:txBody>
      </p:sp>
      <p:sp>
        <p:nvSpPr>
          <p:cNvPr id="17" name="Text 14"/>
          <p:cNvSpPr/>
          <p:nvPr/>
        </p:nvSpPr>
        <p:spPr>
          <a:xfrm>
            <a:off x="5503534" y="942975"/>
            <a:ext cx="3440413" cy="829971"/>
          </a:xfrm>
          <a:prstGeom prst="rect">
            <a:avLst/>
          </a:prstGeom>
          <a:noFill/>
          <a:ln/>
        </p:spPr>
        <p:txBody>
          <a:bodyPr wrap="square" lIns="0" tIns="0" rIns="0" bIns="0" rtlCol="0" anchor="t">
            <a:spAutoFit/>
          </a:bodyPr>
          <a:lstStyle/>
          <a:p>
            <a:pPr marL="0" indent="0" algn="just">
              <a:lnSpc>
                <a:spcPts val="2200"/>
              </a:lnSpc>
              <a:buNone/>
            </a:pPr>
            <a:r>
              <a:rPr lang="en-US" sz="1600" dirty="0">
                <a:solidFill>
                  <a:srgbClr val="18181B"/>
                </a:solidFill>
                <a:latin typeface="Inter" pitchFamily="34" charset="0"/>
                <a:ea typeface="Inter" pitchFamily="34" charset="-122"/>
                <a:cs typeface="Inter" pitchFamily="34" charset="-120"/>
              </a:rPr>
              <a:t>In the time view, useful pattern and unwanted clutter are often </a:t>
            </a:r>
            <a:r>
              <a:rPr lang="en-US" sz="1600" b="1" dirty="0">
                <a:solidFill>
                  <a:srgbClr val="EA580C"/>
                </a:solidFill>
                <a:latin typeface="Inter" pitchFamily="34" charset="0"/>
                <a:ea typeface="Inter" pitchFamily="34" charset="-122"/>
                <a:cs typeface="Inter" pitchFamily="34" charset="-120"/>
              </a:rPr>
              <a:t>superimposed</a:t>
            </a:r>
            <a:r>
              <a:rPr lang="en-US" sz="1600" dirty="0">
                <a:solidFill>
                  <a:srgbClr val="18181B"/>
                </a:solidFill>
                <a:latin typeface="Inter" pitchFamily="34" charset="0"/>
                <a:ea typeface="Inter" pitchFamily="34" charset="-122"/>
                <a:cs typeface="Inter" pitchFamily="34" charset="-120"/>
              </a:rPr>
              <a:t>.</a:t>
            </a:r>
            <a:endParaRPr lang="en-US" sz="1600" dirty="0"/>
          </a:p>
        </p:txBody>
      </p:sp>
      <p:sp>
        <p:nvSpPr>
          <p:cNvPr id="18" name="Text 15"/>
          <p:cNvSpPr/>
          <p:nvPr/>
        </p:nvSpPr>
        <p:spPr>
          <a:xfrm>
            <a:off x="5503534" y="1845543"/>
            <a:ext cx="3440413" cy="633379"/>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A single curve may simultaneously contain slow change, repeating oscillation, sharp details, and random disturbance. The plot is honest, but it is not always easy to interpret.</a:t>
            </a:r>
            <a:endParaRPr lang="en-US" sz="1100" dirty="0"/>
          </a:p>
        </p:txBody>
      </p:sp>
      <p:sp>
        <p:nvSpPr>
          <p:cNvPr id="19" name="Text 16"/>
          <p:cNvSpPr/>
          <p:nvPr/>
        </p:nvSpPr>
        <p:spPr>
          <a:xfrm>
            <a:off x="5503534" y="2743200"/>
            <a:ext cx="3440413" cy="551018"/>
          </a:xfrm>
          <a:prstGeom prst="rect">
            <a:avLst/>
          </a:prstGeom>
          <a:noFill/>
          <a:ln/>
        </p:spPr>
        <p:txBody>
          <a:bodyPr wrap="square" lIns="0" tIns="0" rIns="0" bIns="0" rtlCol="0" anchor="t">
            <a:spAutoFit/>
          </a:bodyPr>
          <a:lstStyle/>
          <a:p>
            <a:pPr marL="0" indent="0" algn="just">
              <a:lnSpc>
                <a:spcPts val="2200"/>
              </a:lnSpc>
              <a:buNone/>
            </a:pPr>
            <a:r>
              <a:rPr lang="en-US" sz="1600" dirty="0">
                <a:solidFill>
                  <a:srgbClr val="18181B"/>
                </a:solidFill>
                <a:latin typeface="Inter" pitchFamily="34" charset="0"/>
                <a:ea typeface="Inter" pitchFamily="34" charset="-122"/>
                <a:cs typeface="Inter" pitchFamily="34" charset="-120"/>
              </a:rPr>
              <a:t>So the question becomes: how do we </a:t>
            </a:r>
            <a:r>
              <a:rPr lang="en-US" sz="1600" b="1" dirty="0">
                <a:solidFill>
                  <a:srgbClr val="EA580C"/>
                </a:solidFill>
                <a:latin typeface="Inter" pitchFamily="34" charset="0"/>
                <a:ea typeface="Inter" pitchFamily="34" charset="-122"/>
                <a:cs typeface="Inter" pitchFamily="34" charset="-120"/>
              </a:rPr>
              <a:t>untangle</a:t>
            </a:r>
            <a:r>
              <a:rPr lang="en-US" sz="1600" dirty="0">
                <a:solidFill>
                  <a:srgbClr val="18181B"/>
                </a:solidFill>
                <a:latin typeface="Inter" pitchFamily="34" charset="0"/>
                <a:ea typeface="Inter" pitchFamily="34" charset="-122"/>
                <a:cs typeface="Inter" pitchFamily="34" charset="-120"/>
              </a:rPr>
              <a:t> the mixture?</a:t>
            </a:r>
            <a:endParaRPr lang="en-US" sz="1600" dirty="0"/>
          </a:p>
        </p:txBody>
      </p:sp>
      <p:sp>
        <p:nvSpPr>
          <p:cNvPr id="20" name="Text 17"/>
          <p:cNvSpPr/>
          <p:nvPr/>
        </p:nvSpPr>
        <p:spPr>
          <a:xfrm>
            <a:off x="5503534" y="3416189"/>
            <a:ext cx="3440413" cy="854786"/>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We want a representation that separates slow from fast, dominant from weak, and meaningful structure from noise. That desire is what makes the frequency domain so valuable.</a:t>
            </a:r>
            <a:endParaRPr lang="en-US" sz="1100" dirty="0"/>
          </a:p>
        </p:txBody>
      </p:sp>
      <p:sp>
        <p:nvSpPr>
          <p:cNvPr id="21" name="Shape 18"/>
          <p:cNvSpPr/>
          <p:nvPr/>
        </p:nvSpPr>
        <p:spPr>
          <a:xfrm>
            <a:off x="0" y="4500563"/>
            <a:ext cx="9144000" cy="642938"/>
          </a:xfrm>
          <a:prstGeom prst="rect">
            <a:avLst/>
          </a:prstGeom>
          <a:solidFill>
            <a:srgbClr val="000000">
              <a:alpha val="0"/>
            </a:srgbClr>
          </a:solidFill>
          <a:ln/>
        </p:spPr>
      </p:sp>
      <p:sp>
        <p:nvSpPr>
          <p:cNvPr id="22" name="Shape 19"/>
          <p:cNvSpPr/>
          <p:nvPr/>
        </p:nvSpPr>
        <p:spPr>
          <a:xfrm>
            <a:off x="0" y="4500563"/>
            <a:ext cx="9144000" cy="7144"/>
          </a:xfrm>
          <a:prstGeom prst="rect">
            <a:avLst/>
          </a:prstGeom>
          <a:solidFill>
            <a:srgbClr val="18181B"/>
          </a:solidFill>
          <a:ln/>
        </p:spPr>
      </p:sp>
      <p:sp>
        <p:nvSpPr>
          <p:cNvPr id="25" name="Text 2">
            <a:extLst>
              <a:ext uri="{FF2B5EF4-FFF2-40B4-BE49-F238E27FC236}">
                <a16:creationId xmlns:a16="http://schemas.microsoft.com/office/drawing/2014/main" id="{0692579D-F287-B43F-3584-F6D3AD0B8651}"/>
              </a:ext>
            </a:extLst>
          </p:cNvPr>
          <p:cNvSpPr/>
          <p:nvPr/>
        </p:nvSpPr>
        <p:spPr>
          <a:xfrm>
            <a:off x="342899" y="141536"/>
            <a:ext cx="1068434"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THE CORE DIFFICULTY</a:t>
            </a:r>
            <a:endParaRPr lang="en-US" sz="727" dirty="0"/>
          </a:p>
        </p:txBody>
      </p:sp>
      <p:sp>
        <p:nvSpPr>
          <p:cNvPr id="26" name="Text 3">
            <a:extLst>
              <a:ext uri="{FF2B5EF4-FFF2-40B4-BE49-F238E27FC236}">
                <a16:creationId xmlns:a16="http://schemas.microsoft.com/office/drawing/2014/main" id="{299766E1-173D-E624-5152-1BD76709A44E}"/>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The big problem is that time-domain signals mix everything together</a:t>
            </a:r>
            <a:endParaRPr lang="en-US" sz="1602" dirty="0"/>
          </a:p>
        </p:txBody>
      </p:sp>
      <p:sp>
        <p:nvSpPr>
          <p:cNvPr id="28" name="Text 23">
            <a:extLst>
              <a:ext uri="{FF2B5EF4-FFF2-40B4-BE49-F238E27FC236}">
                <a16:creationId xmlns:a16="http://schemas.microsoft.com/office/drawing/2014/main" id="{F43BF912-2057-A12B-372D-B5D37AEF9C5B}"/>
              </a:ext>
            </a:extLst>
          </p:cNvPr>
          <p:cNvSpPr/>
          <p:nvPr/>
        </p:nvSpPr>
        <p:spPr>
          <a:xfrm>
            <a:off x="691803" y="4734584"/>
            <a:ext cx="7760394"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Problem statement: </a:t>
            </a:r>
            <a:r>
              <a:rPr lang="en-US" sz="1400" dirty="0">
                <a:solidFill>
                  <a:srgbClr val="3F3F46"/>
                </a:solidFill>
                <a:latin typeface="Inter" pitchFamily="34" charset="0"/>
                <a:ea typeface="Inter" pitchFamily="34" charset="-122"/>
                <a:cs typeface="Inter" pitchFamily="34" charset="-120"/>
              </a:rPr>
              <a:t>Time shows the whole motion at once, but not the hidden ingredients in a clean way.</a:t>
            </a:r>
            <a:endParaRPr lang="en-US" sz="1400" dirty="0"/>
          </a:p>
        </p:txBody>
      </p:sp>
      <p:cxnSp>
        <p:nvCxnSpPr>
          <p:cNvPr id="29" name="Straight Connector 28">
            <a:extLst>
              <a:ext uri="{FF2B5EF4-FFF2-40B4-BE49-F238E27FC236}">
                <a16:creationId xmlns:a16="http://schemas.microsoft.com/office/drawing/2014/main" id="{C3C93497-2369-C2FB-9D8A-4662BB7603F3}"/>
              </a:ext>
            </a:extLst>
          </p:cNvPr>
          <p:cNvCxnSpPr>
            <a:cxnSpLocks/>
          </p:cNvCxnSpPr>
          <p:nvPr/>
        </p:nvCxnSpPr>
        <p:spPr>
          <a:xfrm>
            <a:off x="0" y="1414463"/>
            <a:ext cx="5296365" cy="0"/>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285750" y="1143000"/>
            <a:ext cx="1394613"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HISTORICAL CLUE</a:t>
            </a:r>
            <a:endParaRPr lang="en-US" sz="1200" dirty="0"/>
          </a:p>
        </p:txBody>
      </p:sp>
      <p:sp>
        <p:nvSpPr>
          <p:cNvPr id="8" name="Text 5"/>
          <p:cNvSpPr/>
          <p:nvPr/>
        </p:nvSpPr>
        <p:spPr>
          <a:xfrm>
            <a:off x="285750" y="1407319"/>
            <a:ext cx="2158836" cy="428625"/>
          </a:xfrm>
          <a:prstGeom prst="rect">
            <a:avLst/>
          </a:prstGeom>
          <a:noFill/>
          <a:ln/>
        </p:spPr>
        <p:txBody>
          <a:bodyPr wrap="none" lIns="0" tIns="0" rIns="0" bIns="0" rtlCol="0" anchor="t">
            <a:spAutoFit/>
          </a:bodyPr>
          <a:lstStyle/>
          <a:p>
            <a:pPr marL="0" indent="0" algn="l">
              <a:lnSpc>
                <a:spcPts val="3000"/>
              </a:lnSpc>
              <a:buNone/>
            </a:pPr>
            <a:r>
              <a:rPr lang="en-US" sz="2368" dirty="0">
                <a:solidFill>
                  <a:srgbClr val="EA580C"/>
                </a:solidFill>
                <a:latin typeface="IBM Plex Mono" pitchFamily="34" charset="0"/>
                <a:ea typeface="IBM Plex Mono" pitchFamily="34" charset="-122"/>
                <a:cs typeface="IBM Plex Mono" pitchFamily="34" charset="-120"/>
              </a:rPr>
              <a:t>1807 → 1811</a:t>
            </a:r>
            <a:endParaRPr lang="en-US" sz="2368" dirty="0"/>
          </a:p>
        </p:txBody>
      </p:sp>
      <p:sp>
        <p:nvSpPr>
          <p:cNvPr id="9" name="Text 6"/>
          <p:cNvSpPr/>
          <p:nvPr/>
        </p:nvSpPr>
        <p:spPr>
          <a:xfrm>
            <a:off x="285750" y="1921669"/>
            <a:ext cx="2158836" cy="1508811"/>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Fourier’s early work developed from studying how heat spreads through matter. Historical accounts connect his decomposition ideas to manuscripts on heat that were later expanded in his analytic theory of heat. </a:t>
            </a:r>
            <a:r>
              <a:rPr lang="en-US" sz="1100" b="1" dirty="0">
                <a:solidFill>
                  <a:srgbClr val="3F3F46"/>
                </a:solidFill>
                <a:latin typeface="Inter" pitchFamily="34" charset="0"/>
                <a:ea typeface="Inter" pitchFamily="34" charset="-122"/>
                <a:cs typeface="Inter" pitchFamily="34" charset="-120"/>
              </a:rPr>
              <a:t>[1]</a:t>
            </a:r>
            <a:endParaRPr lang="en-US" sz="1100" b="1" dirty="0"/>
          </a:p>
        </p:txBody>
      </p:sp>
      <p:sp>
        <p:nvSpPr>
          <p:cNvPr id="10" name="Shape 7"/>
          <p:cNvSpPr/>
          <p:nvPr/>
        </p:nvSpPr>
        <p:spPr>
          <a:xfrm>
            <a:off x="3099662" y="1146572"/>
            <a:ext cx="2571750" cy="1071563"/>
          </a:xfrm>
          <a:prstGeom prst="rect">
            <a:avLst/>
          </a:prstGeom>
          <a:noFill/>
          <a:ln w="9144">
            <a:solidFill>
              <a:srgbClr val="18181B"/>
            </a:solidFill>
            <a:prstDash val="solid"/>
          </a:ln>
        </p:spPr>
      </p:sp>
      <p:sp>
        <p:nvSpPr>
          <p:cNvPr id="11" name="Text 8"/>
          <p:cNvSpPr/>
          <p:nvPr/>
        </p:nvSpPr>
        <p:spPr>
          <a:xfrm>
            <a:off x="2651754" y="2577689"/>
            <a:ext cx="3467565" cy="373885"/>
          </a:xfrm>
          <a:prstGeom prst="rect">
            <a:avLst/>
          </a:prstGeom>
          <a:noFill/>
          <a:ln/>
        </p:spPr>
        <p:txBody>
          <a:bodyPr wrap="square" lIns="170053" tIns="0" rIns="170053" bIns="0" rtlCol="0" anchor="ctr">
            <a:spAutoFit/>
          </a:bodyPr>
          <a:lstStyle/>
          <a:p>
            <a:pPr marL="0" indent="0" algn="ctr">
              <a:lnSpc>
                <a:spcPts val="1500"/>
              </a:lnSpc>
              <a:buNone/>
            </a:pPr>
            <a:r>
              <a:rPr lang="en-US" sz="1100" dirty="0">
                <a:solidFill>
                  <a:srgbClr val="18181B"/>
                </a:solidFill>
                <a:latin typeface="Inter" pitchFamily="34" charset="0"/>
                <a:ea typeface="Inter" pitchFamily="34" charset="-122"/>
                <a:cs typeface="Inter" pitchFamily="34" charset="-120"/>
              </a:rPr>
              <a:t>Complex physical pattern → rewrite it as simpler wave-like pieces that are easier to study</a:t>
            </a:r>
            <a:endParaRPr lang="en-US" sz="1100" dirty="0"/>
          </a:p>
        </p:txBody>
      </p:sp>
      <p:sp>
        <p:nvSpPr>
          <p:cNvPr id="12" name="Shape 9"/>
          <p:cNvSpPr/>
          <p:nvPr/>
        </p:nvSpPr>
        <p:spPr>
          <a:xfrm>
            <a:off x="3099662" y="3311128"/>
            <a:ext cx="2571750" cy="1071563"/>
          </a:xfrm>
          <a:prstGeom prst="rect">
            <a:avLst/>
          </a:prstGeom>
          <a:noFill/>
          <a:ln w="9144">
            <a:solidFill>
              <a:srgbClr val="18181B"/>
            </a:solidFill>
            <a:prstDash val="solid"/>
          </a:ln>
        </p:spPr>
      </p:sp>
      <p:sp>
        <p:nvSpPr>
          <p:cNvPr id="13" name="Text 10"/>
          <p:cNvSpPr/>
          <p:nvPr/>
        </p:nvSpPr>
        <p:spPr>
          <a:xfrm>
            <a:off x="6369351" y="1143000"/>
            <a:ext cx="2531734" cy="1333378"/>
          </a:xfrm>
          <a:prstGeom prst="rect">
            <a:avLst/>
          </a:prstGeom>
          <a:noFill/>
          <a:ln/>
        </p:spPr>
        <p:txBody>
          <a:bodyPr wrap="square" lIns="0" tIns="0" rIns="0" bIns="0" rtlCol="0" anchor="t">
            <a:spAutoFit/>
          </a:bodyPr>
          <a:lstStyle/>
          <a:p>
            <a:pPr marL="0" indent="0" algn="just">
              <a:lnSpc>
                <a:spcPts val="2100"/>
              </a:lnSpc>
              <a:buNone/>
            </a:pPr>
            <a:r>
              <a:rPr lang="en-US" sz="1600" dirty="0">
                <a:solidFill>
                  <a:srgbClr val="18181B"/>
                </a:solidFill>
                <a:latin typeface="Inter" pitchFamily="34" charset="0"/>
                <a:ea typeface="Inter" pitchFamily="34" charset="-122"/>
                <a:cs typeface="Inter" pitchFamily="34" charset="-120"/>
              </a:rPr>
              <a:t>The crucial insight was not “music is made of notes,” but </a:t>
            </a:r>
            <a:r>
              <a:rPr lang="en-US" sz="1600" b="1" dirty="0">
                <a:solidFill>
                  <a:srgbClr val="EA580C"/>
                </a:solidFill>
                <a:latin typeface="Inter" pitchFamily="34" charset="0"/>
                <a:ea typeface="Inter" pitchFamily="34" charset="-122"/>
                <a:cs typeface="Inter" pitchFamily="34" charset="-120"/>
              </a:rPr>
              <a:t>complex patterns can be decomposed into simple components</a:t>
            </a:r>
            <a:r>
              <a:rPr lang="en-US" sz="1600" dirty="0">
                <a:solidFill>
                  <a:srgbClr val="18181B"/>
                </a:solidFill>
                <a:latin typeface="Inter" pitchFamily="34" charset="0"/>
                <a:ea typeface="Inter" pitchFamily="34" charset="-122"/>
                <a:cs typeface="Inter" pitchFamily="34" charset="-120"/>
              </a:rPr>
              <a:t>.</a:t>
            </a:r>
            <a:endParaRPr lang="en-US" sz="1600" dirty="0"/>
          </a:p>
        </p:txBody>
      </p:sp>
      <p:sp>
        <p:nvSpPr>
          <p:cNvPr id="14" name="Text 11"/>
          <p:cNvSpPr/>
          <p:nvPr/>
        </p:nvSpPr>
        <p:spPr>
          <a:xfrm>
            <a:off x="6369351" y="2668888"/>
            <a:ext cx="2531734" cy="854786"/>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That idea made hard physical problems easier to analyze. Later, the same logic became essential in audio, imaging, communications, and modern physics. </a:t>
            </a:r>
            <a:r>
              <a:rPr lang="en-US" sz="1100" b="1" dirty="0">
                <a:solidFill>
                  <a:srgbClr val="3F3F46"/>
                </a:solidFill>
                <a:latin typeface="Inter" pitchFamily="34" charset="0"/>
                <a:ea typeface="Inter" pitchFamily="34" charset="-122"/>
                <a:cs typeface="Inter" pitchFamily="34" charset="-120"/>
              </a:rPr>
              <a:t>[1][2]</a:t>
            </a:r>
            <a:endParaRPr lang="en-US" sz="1100" b="1" dirty="0"/>
          </a:p>
        </p:txBody>
      </p:sp>
      <p:sp>
        <p:nvSpPr>
          <p:cNvPr id="15" name="Shape 12"/>
          <p:cNvSpPr/>
          <p:nvPr/>
        </p:nvSpPr>
        <p:spPr>
          <a:xfrm>
            <a:off x="0" y="4629150"/>
            <a:ext cx="9144000" cy="514350"/>
          </a:xfrm>
          <a:prstGeom prst="rect">
            <a:avLst/>
          </a:prstGeom>
          <a:solidFill>
            <a:srgbClr val="000000">
              <a:alpha val="0"/>
            </a:srgbClr>
          </a:solidFill>
          <a:ln/>
        </p:spPr>
      </p:sp>
      <p:sp>
        <p:nvSpPr>
          <p:cNvPr id="16" name="Shape 13"/>
          <p:cNvSpPr/>
          <p:nvPr/>
        </p:nvSpPr>
        <p:spPr>
          <a:xfrm>
            <a:off x="0" y="4629150"/>
            <a:ext cx="9144000" cy="7144"/>
          </a:xfrm>
          <a:prstGeom prst="rect">
            <a:avLst/>
          </a:prstGeom>
          <a:solidFill>
            <a:srgbClr val="18181B"/>
          </a:solidFill>
          <a:ln/>
        </p:spPr>
      </p:sp>
      <p:sp>
        <p:nvSpPr>
          <p:cNvPr id="17" name="Text 14"/>
          <p:cNvSpPr/>
          <p:nvPr/>
        </p:nvSpPr>
        <p:spPr>
          <a:xfrm>
            <a:off x="151130" y="4719556"/>
            <a:ext cx="3780790" cy="456472"/>
          </a:xfrm>
          <a:prstGeom prst="rect">
            <a:avLst/>
          </a:prstGeom>
          <a:noFill/>
          <a:ln/>
        </p:spPr>
        <p:txBody>
          <a:bodyPr wrap="square" lIns="0" tIns="0" rIns="0" bIns="0" rtlCol="0" anchor="t">
            <a:spAutoFit/>
          </a:bodyPr>
          <a:lstStyle/>
          <a:p>
            <a:pPr marL="0" indent="0" algn="just">
              <a:lnSpc>
                <a:spcPts val="900"/>
              </a:lnSpc>
              <a:buNone/>
            </a:pPr>
            <a:r>
              <a:rPr lang="en-US" sz="727" dirty="0">
                <a:solidFill>
                  <a:srgbClr val="3F3F46"/>
                </a:solidFill>
                <a:latin typeface="IBM Plex Mono" panose="020B0509050203000203" pitchFamily="49" charset="77"/>
                <a:ea typeface="IBM Plex Mono" pitchFamily="34" charset="-122"/>
                <a:cs typeface="IBM Plex Mono" pitchFamily="34" charset="-120"/>
              </a:rPr>
              <a:t>[1] IEEE Pulse: Highlights in the History of the Fourier Transform</a:t>
            </a:r>
          </a:p>
          <a:p>
            <a:pPr marL="0" indent="0" algn="just">
              <a:lnSpc>
                <a:spcPts val="900"/>
              </a:lnSpc>
              <a:buNone/>
            </a:pPr>
            <a:r>
              <a:rPr lang="en-US" sz="727" dirty="0">
                <a:latin typeface="IBM Plex Mono" panose="020B0509050203000203" pitchFamily="49" charset="77"/>
                <a:hlinkClick r:id="rId4"/>
              </a:rPr>
              <a:t>https://www.embs.org/pulse/articles/highlights-in-the-history-of-the-fourier-transform/</a:t>
            </a:r>
            <a:endParaRPr lang="en-US" sz="727" dirty="0">
              <a:solidFill>
                <a:srgbClr val="3F3F46"/>
              </a:solidFill>
              <a:latin typeface="IBM Plex Mono" panose="020B0509050203000203" pitchFamily="49" charset="77"/>
            </a:endParaRPr>
          </a:p>
          <a:p>
            <a:pPr marL="0" indent="0" algn="just">
              <a:lnSpc>
                <a:spcPts val="900"/>
              </a:lnSpc>
              <a:buNone/>
            </a:pPr>
            <a:endParaRPr lang="en-US" sz="727" dirty="0">
              <a:latin typeface="IBM Plex Mono" panose="020B0509050203000203" pitchFamily="49" charset="77"/>
            </a:endParaRPr>
          </a:p>
        </p:txBody>
      </p:sp>
      <p:sp>
        <p:nvSpPr>
          <p:cNvPr id="18" name="Text 15"/>
          <p:cNvSpPr/>
          <p:nvPr/>
        </p:nvSpPr>
        <p:spPr>
          <a:xfrm>
            <a:off x="5212082" y="4724020"/>
            <a:ext cx="3709670" cy="456472"/>
          </a:xfrm>
          <a:prstGeom prst="rect">
            <a:avLst/>
          </a:prstGeom>
          <a:noFill/>
          <a:ln/>
        </p:spPr>
        <p:txBody>
          <a:bodyPr wrap="square" lIns="0" tIns="0" rIns="0" bIns="0" rtlCol="0" anchor="t">
            <a:spAutoFit/>
          </a:bodyPr>
          <a:lstStyle/>
          <a:p>
            <a:pPr marL="0" indent="0" algn="just">
              <a:lnSpc>
                <a:spcPts val="900"/>
              </a:lnSpc>
              <a:buNone/>
            </a:pPr>
            <a:r>
              <a:rPr lang="en-US" sz="727" dirty="0">
                <a:solidFill>
                  <a:srgbClr val="3F3F46"/>
                </a:solidFill>
                <a:latin typeface="IBM Plex Mono" panose="020B0509050203000203" pitchFamily="49" charset="77"/>
                <a:ea typeface="IBM Plex Mono" pitchFamily="34" charset="-122"/>
                <a:cs typeface="IBM Plex Mono" pitchFamily="34" charset="-120"/>
              </a:rPr>
              <a:t>[2] MathWorks: Practical Introduction to Frequency-Domain Analysis</a:t>
            </a:r>
          </a:p>
          <a:p>
            <a:pPr marL="0" indent="0" algn="just">
              <a:lnSpc>
                <a:spcPts val="900"/>
              </a:lnSpc>
              <a:buNone/>
            </a:pPr>
            <a:r>
              <a:rPr lang="en-US" sz="727" dirty="0">
                <a:latin typeface="IBM Plex Mono" panose="020B0509050203000203" pitchFamily="49" charset="77"/>
                <a:hlinkClick r:id="rId5"/>
              </a:rPr>
              <a:t>https://www.mathworks.com/help/signal/ug/practical-introduction-to-frequency-domain-analysis.html</a:t>
            </a:r>
            <a:endParaRPr lang="en-US" sz="727" dirty="0">
              <a:solidFill>
                <a:srgbClr val="3F3F46"/>
              </a:solidFill>
              <a:latin typeface="IBM Plex Mono" panose="020B0509050203000203" pitchFamily="49" charset="77"/>
            </a:endParaRPr>
          </a:p>
          <a:p>
            <a:pPr marL="0" indent="0" algn="just">
              <a:lnSpc>
                <a:spcPts val="900"/>
              </a:lnSpc>
              <a:buNone/>
            </a:pPr>
            <a:endParaRPr lang="en-US" sz="727" dirty="0">
              <a:latin typeface="IBM Plex Mono" panose="020B0509050203000203" pitchFamily="49" charset="77"/>
            </a:endParaRPr>
          </a:p>
        </p:txBody>
      </p:sp>
      <p:sp>
        <p:nvSpPr>
          <p:cNvPr id="19" name="Text 2">
            <a:extLst>
              <a:ext uri="{FF2B5EF4-FFF2-40B4-BE49-F238E27FC236}">
                <a16:creationId xmlns:a16="http://schemas.microsoft.com/office/drawing/2014/main" id="{8AA8DEC9-E639-CAEC-8053-62031FEBA86F}"/>
              </a:ext>
            </a:extLst>
          </p:cNvPr>
          <p:cNvSpPr/>
          <p:nvPr/>
        </p:nvSpPr>
        <p:spPr>
          <a:xfrm>
            <a:off x="342899" y="141536"/>
            <a:ext cx="1180901"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HISTORICAL MOTIVATION</a:t>
            </a:r>
            <a:endParaRPr lang="en-US" sz="727" dirty="0"/>
          </a:p>
        </p:txBody>
      </p:sp>
      <p:sp>
        <p:nvSpPr>
          <p:cNvPr id="20" name="Text 3">
            <a:extLst>
              <a:ext uri="{FF2B5EF4-FFF2-40B4-BE49-F238E27FC236}">
                <a16:creationId xmlns:a16="http://schemas.microsoft.com/office/drawing/2014/main" id="{24634E54-4053-61A2-AA65-E78CB2347DB4}"/>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Fourier's breakthrough came from heat, not from music</a:t>
            </a:r>
            <a:endParaRPr lang="en-US" sz="160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0" y="1100877"/>
            <a:ext cx="4023354" cy="155684"/>
          </a:xfrm>
          <a:prstGeom prst="rect">
            <a:avLst/>
          </a:prstGeom>
          <a:noFill/>
          <a:ln/>
        </p:spPr>
        <p:txBody>
          <a:bodyPr wrap="square" lIns="0" tIns="0" rIns="0" bIns="0" rtlCol="0" anchor="ctr">
            <a:spAutoFit/>
          </a:bodyPr>
          <a:lstStyle/>
          <a:p>
            <a:pPr marL="0" indent="0" algn="ctr">
              <a:lnSpc>
                <a:spcPts val="1200"/>
              </a:lnSpc>
              <a:buNone/>
            </a:pPr>
            <a:r>
              <a:rPr lang="en-US" sz="1200" dirty="0">
                <a:solidFill>
                  <a:srgbClr val="0284C7"/>
                </a:solidFill>
                <a:latin typeface="IBM Plex Mono" pitchFamily="34" charset="0"/>
                <a:ea typeface="IBM Plex Mono" pitchFamily="34" charset="-122"/>
                <a:cs typeface="IBM Plex Mono" pitchFamily="34" charset="-120"/>
              </a:rPr>
              <a:t>TIME DOMAIN</a:t>
            </a:r>
            <a:endParaRPr lang="en-US" sz="1200" dirty="0"/>
          </a:p>
        </p:txBody>
      </p:sp>
      <p:sp>
        <p:nvSpPr>
          <p:cNvPr id="8" name="Shape 5"/>
          <p:cNvSpPr/>
          <p:nvPr/>
        </p:nvSpPr>
        <p:spPr>
          <a:xfrm>
            <a:off x="475757" y="1914525"/>
            <a:ext cx="3071813" cy="1285875"/>
          </a:xfrm>
          <a:prstGeom prst="rect">
            <a:avLst/>
          </a:prstGeom>
          <a:noFill/>
          <a:ln w="9144">
            <a:solidFill>
              <a:srgbClr val="18181B"/>
            </a:solidFill>
            <a:prstDash val="solid"/>
          </a:ln>
        </p:spPr>
      </p:sp>
      <p:sp>
        <p:nvSpPr>
          <p:cNvPr id="9" name="Text 6"/>
          <p:cNvSpPr/>
          <p:nvPr/>
        </p:nvSpPr>
        <p:spPr>
          <a:xfrm>
            <a:off x="0" y="3657600"/>
            <a:ext cx="4023354" cy="564514"/>
          </a:xfrm>
          <a:prstGeom prst="rect">
            <a:avLst/>
          </a:prstGeom>
          <a:noFill/>
          <a:ln/>
        </p:spPr>
        <p:txBody>
          <a:bodyPr wrap="square" lIns="221107" tIns="170053" rIns="221107"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Shows </a:t>
            </a:r>
            <a:r>
              <a:rPr lang="en-US" sz="1100" b="1" dirty="0">
                <a:solidFill>
                  <a:srgbClr val="3F3F46"/>
                </a:solidFill>
                <a:latin typeface="Inter" pitchFamily="34" charset="0"/>
                <a:ea typeface="Inter" pitchFamily="34" charset="-122"/>
                <a:cs typeface="Inter" pitchFamily="34" charset="-120"/>
              </a:rPr>
              <a:t>what happens</a:t>
            </a:r>
            <a:r>
              <a:rPr lang="en-US" sz="1100" dirty="0">
                <a:solidFill>
                  <a:srgbClr val="3F3F46"/>
                </a:solidFill>
                <a:latin typeface="Inter" pitchFamily="34" charset="0"/>
                <a:ea typeface="Inter" pitchFamily="34" charset="-122"/>
                <a:cs typeface="Inter" pitchFamily="34" charset="-120"/>
              </a:rPr>
              <a:t> as time passes: the overall motion, shape, and order of events.</a:t>
            </a:r>
            <a:endParaRPr lang="en-US" sz="1100" dirty="0"/>
          </a:p>
        </p:txBody>
      </p:sp>
      <p:sp>
        <p:nvSpPr>
          <p:cNvPr id="10" name="Text 7"/>
          <p:cNvSpPr/>
          <p:nvPr/>
        </p:nvSpPr>
        <p:spPr>
          <a:xfrm rot="16200000">
            <a:off x="3612923" y="2473518"/>
            <a:ext cx="1918098" cy="196464"/>
          </a:xfrm>
          <a:prstGeom prst="rect">
            <a:avLst/>
          </a:prstGeom>
          <a:noFill/>
          <a:ln/>
        </p:spPr>
        <p:txBody>
          <a:bodyPr wrap="square" lIns="0" tIns="0" rIns="0" bIns="0" rtlCol="0" anchor="t">
            <a:spAutoFit/>
          </a:bodyPr>
          <a:lstStyle/>
          <a:p>
            <a:pPr marL="0" indent="0" algn="l">
              <a:lnSpc>
                <a:spcPts val="1600"/>
              </a:lnSpc>
              <a:buNone/>
            </a:pPr>
            <a:r>
              <a:rPr lang="en-US" sz="1269" kern="0" spc="1" dirty="0">
                <a:solidFill>
                  <a:srgbClr val="18181B"/>
                </a:solidFill>
                <a:latin typeface="IBM Plex Mono" pitchFamily="34" charset="0"/>
                <a:ea typeface="IBM Plex Mono" pitchFamily="34" charset="-122"/>
                <a:cs typeface="IBM Plex Mono" pitchFamily="34" charset="-120"/>
              </a:rPr>
              <a:t>Fourier transform</a:t>
            </a:r>
            <a:endParaRPr lang="en-US" sz="1269" dirty="0"/>
          </a:p>
        </p:txBody>
      </p:sp>
      <p:sp>
        <p:nvSpPr>
          <p:cNvPr id="11" name="Text 8"/>
          <p:cNvSpPr/>
          <p:nvPr/>
        </p:nvSpPr>
        <p:spPr>
          <a:xfrm>
            <a:off x="5120618" y="1100877"/>
            <a:ext cx="4023354" cy="155684"/>
          </a:xfrm>
          <a:prstGeom prst="rect">
            <a:avLst/>
          </a:prstGeom>
          <a:noFill/>
          <a:ln/>
        </p:spPr>
        <p:txBody>
          <a:bodyPr wrap="square" lIns="0" tIns="0" rIns="0" bIns="0" rtlCol="0" anchor="ctr">
            <a:spAutoFit/>
          </a:bodyPr>
          <a:lstStyle/>
          <a:p>
            <a:pPr marL="0" indent="0" algn="ctr">
              <a:lnSpc>
                <a:spcPts val="1200"/>
              </a:lnSpc>
              <a:buNone/>
            </a:pPr>
            <a:r>
              <a:rPr lang="en-US" sz="1200" dirty="0">
                <a:solidFill>
                  <a:srgbClr val="0284C7"/>
                </a:solidFill>
                <a:latin typeface="IBM Plex Mono" pitchFamily="34" charset="0"/>
                <a:ea typeface="IBM Plex Mono" pitchFamily="34" charset="-122"/>
                <a:cs typeface="IBM Plex Mono" pitchFamily="34" charset="-120"/>
              </a:rPr>
              <a:t>FREQUENCY DOMAIN</a:t>
            </a:r>
            <a:endParaRPr lang="en-US" sz="1200" dirty="0"/>
          </a:p>
        </p:txBody>
      </p:sp>
      <p:sp>
        <p:nvSpPr>
          <p:cNvPr id="12" name="Shape 9"/>
          <p:cNvSpPr/>
          <p:nvPr/>
        </p:nvSpPr>
        <p:spPr>
          <a:xfrm>
            <a:off x="5596375" y="1914525"/>
            <a:ext cx="3071813" cy="1285875"/>
          </a:xfrm>
          <a:prstGeom prst="rect">
            <a:avLst/>
          </a:prstGeom>
          <a:noFill/>
          <a:ln w="9144">
            <a:solidFill>
              <a:srgbClr val="18181B"/>
            </a:solidFill>
            <a:prstDash val="solid"/>
          </a:ln>
        </p:spPr>
      </p:sp>
      <p:sp>
        <p:nvSpPr>
          <p:cNvPr id="13" name="Text 10"/>
          <p:cNvSpPr/>
          <p:nvPr/>
        </p:nvSpPr>
        <p:spPr>
          <a:xfrm>
            <a:off x="5120618" y="3657600"/>
            <a:ext cx="4023354" cy="568041"/>
          </a:xfrm>
          <a:prstGeom prst="rect">
            <a:avLst/>
          </a:prstGeom>
          <a:noFill/>
          <a:ln/>
        </p:spPr>
        <p:txBody>
          <a:bodyPr wrap="square" lIns="221107" tIns="170053" rIns="221107"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Shows </a:t>
            </a:r>
            <a:r>
              <a:rPr lang="en-US" sz="1100" b="1" dirty="0">
                <a:solidFill>
                  <a:srgbClr val="3F3F46"/>
                </a:solidFill>
                <a:latin typeface="Inter" pitchFamily="34" charset="0"/>
                <a:ea typeface="Inter" pitchFamily="34" charset="-122"/>
                <a:cs typeface="Inter" pitchFamily="34" charset="-120"/>
              </a:rPr>
              <a:t>what it is made of</a:t>
            </a:r>
            <a:r>
              <a:rPr lang="en-US" sz="1100" dirty="0">
                <a:solidFill>
                  <a:srgbClr val="3F3F46"/>
                </a:solidFill>
                <a:latin typeface="Inter" pitchFamily="34" charset="0"/>
                <a:ea typeface="Inter" pitchFamily="34" charset="-122"/>
                <a:cs typeface="Inter" pitchFamily="34" charset="-120"/>
              </a:rPr>
              <a:t>: repeating components and how strong each one is. </a:t>
            </a:r>
            <a:r>
              <a:rPr lang="en-US" sz="1100" b="1" dirty="0">
                <a:solidFill>
                  <a:srgbClr val="3F3F46"/>
                </a:solidFill>
                <a:latin typeface="Inter" pitchFamily="34" charset="0"/>
                <a:ea typeface="Inter" pitchFamily="34" charset="-122"/>
                <a:cs typeface="Inter" pitchFamily="34" charset="-120"/>
              </a:rPr>
              <a:t>[2]</a:t>
            </a:r>
            <a:endParaRPr lang="en-US" sz="1100" b="1" dirty="0"/>
          </a:p>
        </p:txBody>
      </p:sp>
      <p:sp>
        <p:nvSpPr>
          <p:cNvPr id="14" name="Shape 11"/>
          <p:cNvSpPr/>
          <p:nvPr/>
        </p:nvSpPr>
        <p:spPr>
          <a:xfrm>
            <a:off x="0" y="4514850"/>
            <a:ext cx="9144000" cy="628650"/>
          </a:xfrm>
          <a:prstGeom prst="rect">
            <a:avLst/>
          </a:prstGeom>
          <a:solidFill>
            <a:srgbClr val="000000">
              <a:alpha val="0"/>
            </a:srgbClr>
          </a:solidFill>
          <a:ln/>
        </p:spPr>
      </p:sp>
      <p:sp>
        <p:nvSpPr>
          <p:cNvPr id="15" name="Shape 12"/>
          <p:cNvSpPr/>
          <p:nvPr/>
        </p:nvSpPr>
        <p:spPr>
          <a:xfrm>
            <a:off x="0" y="4514850"/>
            <a:ext cx="9144000" cy="7144"/>
          </a:xfrm>
          <a:prstGeom prst="rect">
            <a:avLst/>
          </a:prstGeom>
          <a:solidFill>
            <a:srgbClr val="18181B"/>
          </a:solidFill>
          <a:ln/>
        </p:spPr>
      </p:sp>
      <p:sp>
        <p:nvSpPr>
          <p:cNvPr id="20" name="Text 2">
            <a:extLst>
              <a:ext uri="{FF2B5EF4-FFF2-40B4-BE49-F238E27FC236}">
                <a16:creationId xmlns:a16="http://schemas.microsoft.com/office/drawing/2014/main" id="{5984BFE2-0CF5-0922-563D-106B11A6340A}"/>
              </a:ext>
            </a:extLst>
          </p:cNvPr>
          <p:cNvSpPr/>
          <p:nvPr/>
        </p:nvSpPr>
        <p:spPr>
          <a:xfrm>
            <a:off x="342899" y="141536"/>
            <a:ext cx="1012200"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THE CORE INTUITION</a:t>
            </a:r>
            <a:endParaRPr lang="en-US" sz="727" dirty="0"/>
          </a:p>
        </p:txBody>
      </p:sp>
      <p:sp>
        <p:nvSpPr>
          <p:cNvPr id="21" name="Text 3">
            <a:extLst>
              <a:ext uri="{FF2B5EF4-FFF2-40B4-BE49-F238E27FC236}">
                <a16:creationId xmlns:a16="http://schemas.microsoft.com/office/drawing/2014/main" id="{1FECF835-E70C-FFBC-C97C-1134DD0599C0}"/>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The frequency domain tells us what a signal is made of</a:t>
            </a:r>
            <a:endParaRPr lang="en-US" sz="1602" dirty="0"/>
          </a:p>
        </p:txBody>
      </p:sp>
      <p:sp>
        <p:nvSpPr>
          <p:cNvPr id="23" name="Text 23">
            <a:extLst>
              <a:ext uri="{FF2B5EF4-FFF2-40B4-BE49-F238E27FC236}">
                <a16:creationId xmlns:a16="http://schemas.microsoft.com/office/drawing/2014/main" id="{8121F54E-5763-62D6-0CCB-EA0EFC41B553}"/>
              </a:ext>
            </a:extLst>
          </p:cNvPr>
          <p:cNvSpPr/>
          <p:nvPr/>
        </p:nvSpPr>
        <p:spPr>
          <a:xfrm>
            <a:off x="537406" y="4734584"/>
            <a:ext cx="8069132"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Analogy: </a:t>
            </a:r>
            <a:r>
              <a:rPr lang="en-US" sz="1400" dirty="0">
                <a:solidFill>
                  <a:srgbClr val="3F3F46"/>
                </a:solidFill>
                <a:latin typeface="Inter" pitchFamily="34" charset="0"/>
                <a:ea typeface="Inter" pitchFamily="34" charset="-122"/>
                <a:cs typeface="Inter" pitchFamily="34" charset="-120"/>
              </a:rPr>
              <a:t>Time domain is the soup you taste; frequency domain is the ingredient list that explains the flavor.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285750" y="1143000"/>
            <a:ext cx="2601748" cy="810034"/>
          </a:xfrm>
          <a:prstGeom prst="rect">
            <a:avLst/>
          </a:prstGeom>
          <a:noFill/>
          <a:ln/>
        </p:spPr>
        <p:txBody>
          <a:bodyPr wrap="square" lIns="0" tIns="0" rIns="0" bIns="0" rtlCol="0" anchor="t">
            <a:spAutoFit/>
          </a:bodyPr>
          <a:lstStyle/>
          <a:p>
            <a:pPr marL="0" indent="0" algn="just">
              <a:lnSpc>
                <a:spcPts val="2100"/>
              </a:lnSpc>
              <a:buNone/>
            </a:pPr>
            <a:r>
              <a:rPr lang="en-US" sz="1600" dirty="0">
                <a:solidFill>
                  <a:srgbClr val="18181B"/>
                </a:solidFill>
                <a:latin typeface="Inter" pitchFamily="34" charset="0"/>
                <a:ea typeface="Inter" pitchFamily="34" charset="-122"/>
                <a:cs typeface="Inter" pitchFamily="34" charset="-120"/>
              </a:rPr>
              <a:t>A musical note has a </a:t>
            </a:r>
            <a:r>
              <a:rPr lang="en-US" sz="1600" b="1" dirty="0">
                <a:solidFill>
                  <a:srgbClr val="EA580C"/>
                </a:solidFill>
                <a:latin typeface="Inter" pitchFamily="34" charset="0"/>
                <a:ea typeface="Inter" pitchFamily="34" charset="-122"/>
                <a:cs typeface="Inter" pitchFamily="34" charset="-120"/>
              </a:rPr>
              <a:t>fundamental</a:t>
            </a:r>
            <a:r>
              <a:rPr lang="en-US" sz="1600" dirty="0">
                <a:solidFill>
                  <a:srgbClr val="18181B"/>
                </a:solidFill>
                <a:latin typeface="Inter" pitchFamily="34" charset="0"/>
                <a:ea typeface="Inter" pitchFamily="34" charset="-122"/>
                <a:cs typeface="Inter" pitchFamily="34" charset="-120"/>
              </a:rPr>
              <a:t> plus higher multiples called </a:t>
            </a:r>
            <a:r>
              <a:rPr lang="en-US" sz="1600" b="1" dirty="0">
                <a:solidFill>
                  <a:srgbClr val="EA580C"/>
                </a:solidFill>
                <a:latin typeface="Inter" pitchFamily="34" charset="0"/>
                <a:ea typeface="Inter" pitchFamily="34" charset="-122"/>
                <a:cs typeface="Inter" pitchFamily="34" charset="-120"/>
              </a:rPr>
              <a:t>harmonics</a:t>
            </a:r>
            <a:r>
              <a:rPr lang="en-US" sz="1600" dirty="0">
                <a:solidFill>
                  <a:srgbClr val="18181B"/>
                </a:solidFill>
                <a:latin typeface="Inter" pitchFamily="34" charset="0"/>
                <a:ea typeface="Inter" pitchFamily="34" charset="-122"/>
                <a:cs typeface="Inter" pitchFamily="34" charset="-120"/>
              </a:rPr>
              <a:t>.</a:t>
            </a:r>
            <a:endParaRPr lang="en-US" sz="1600" dirty="0"/>
          </a:p>
        </p:txBody>
      </p:sp>
      <p:sp>
        <p:nvSpPr>
          <p:cNvPr id="8" name="Text 5"/>
          <p:cNvSpPr/>
          <p:nvPr/>
        </p:nvSpPr>
        <p:spPr>
          <a:xfrm>
            <a:off x="285750" y="2095909"/>
            <a:ext cx="2601748" cy="857808"/>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These extra components shape tone color, or timbre. That is why two instruments can play the same pitch but still sound completely different.</a:t>
            </a:r>
            <a:endParaRPr lang="en-US" sz="1100" dirty="0"/>
          </a:p>
        </p:txBody>
      </p:sp>
      <p:sp>
        <p:nvSpPr>
          <p:cNvPr id="9" name="Text 6"/>
          <p:cNvSpPr/>
          <p:nvPr/>
        </p:nvSpPr>
        <p:spPr>
          <a:xfrm>
            <a:off x="3108954" y="1020867"/>
            <a:ext cx="3010365" cy="287130"/>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ONE NOTE AS A FAMILY OF COMPONENTS</a:t>
            </a:r>
            <a:endParaRPr lang="en-US" sz="1200" dirty="0"/>
          </a:p>
        </p:txBody>
      </p:sp>
      <p:sp>
        <p:nvSpPr>
          <p:cNvPr id="10" name="Text 7"/>
          <p:cNvSpPr/>
          <p:nvPr/>
        </p:nvSpPr>
        <p:spPr>
          <a:xfrm>
            <a:off x="3402323" y="4386263"/>
            <a:ext cx="121444" cy="128588"/>
          </a:xfrm>
          <a:prstGeom prst="rect">
            <a:avLst/>
          </a:prstGeom>
          <a:noFill/>
          <a:ln/>
        </p:spPr>
        <p:txBody>
          <a:bodyPr wrap="none" lIns="0" tIns="0" rIns="0" bIns="0" rtlCol="0" anchor="t">
            <a:spAutoFit/>
          </a:bodyPr>
          <a:lstStyle/>
          <a:p>
            <a:pPr marL="0" indent="0" algn="l">
              <a:lnSpc>
                <a:spcPts val="900"/>
              </a:lnSpc>
              <a:buNone/>
            </a:pPr>
            <a:r>
              <a:rPr lang="en-US" sz="727" dirty="0">
                <a:solidFill>
                  <a:srgbClr val="3F3F46"/>
                </a:solidFill>
                <a:latin typeface="IBM Plex Mono" pitchFamily="34" charset="0"/>
                <a:ea typeface="IBM Plex Mono" pitchFamily="34" charset="-122"/>
                <a:cs typeface="IBM Plex Mono" pitchFamily="34" charset="-120"/>
              </a:rPr>
              <a:t>1f</a:t>
            </a:r>
            <a:endParaRPr lang="en-US" sz="727" dirty="0"/>
          </a:p>
        </p:txBody>
      </p:sp>
      <p:sp>
        <p:nvSpPr>
          <p:cNvPr id="11" name="Text 8"/>
          <p:cNvSpPr/>
          <p:nvPr/>
        </p:nvSpPr>
        <p:spPr>
          <a:xfrm>
            <a:off x="3977869" y="4386263"/>
            <a:ext cx="121444" cy="128588"/>
          </a:xfrm>
          <a:prstGeom prst="rect">
            <a:avLst/>
          </a:prstGeom>
          <a:noFill/>
          <a:ln/>
        </p:spPr>
        <p:txBody>
          <a:bodyPr wrap="none" lIns="0" tIns="0" rIns="0" bIns="0" rtlCol="0" anchor="t">
            <a:spAutoFit/>
          </a:bodyPr>
          <a:lstStyle/>
          <a:p>
            <a:pPr marL="0" indent="0" algn="l">
              <a:lnSpc>
                <a:spcPts val="900"/>
              </a:lnSpc>
              <a:buNone/>
            </a:pPr>
            <a:r>
              <a:rPr lang="en-US" sz="727" dirty="0">
                <a:solidFill>
                  <a:srgbClr val="3F3F46"/>
                </a:solidFill>
                <a:latin typeface="IBM Plex Mono" pitchFamily="34" charset="0"/>
                <a:ea typeface="IBM Plex Mono" pitchFamily="34" charset="-122"/>
                <a:cs typeface="IBM Plex Mono" pitchFamily="34" charset="-120"/>
              </a:rPr>
              <a:t>2f</a:t>
            </a:r>
            <a:endParaRPr lang="en-US" sz="727" dirty="0"/>
          </a:p>
        </p:txBody>
      </p:sp>
      <p:sp>
        <p:nvSpPr>
          <p:cNvPr id="12" name="Text 9"/>
          <p:cNvSpPr/>
          <p:nvPr/>
        </p:nvSpPr>
        <p:spPr>
          <a:xfrm>
            <a:off x="4553415" y="4386263"/>
            <a:ext cx="121444" cy="128588"/>
          </a:xfrm>
          <a:prstGeom prst="rect">
            <a:avLst/>
          </a:prstGeom>
          <a:noFill/>
          <a:ln/>
        </p:spPr>
        <p:txBody>
          <a:bodyPr wrap="none" lIns="0" tIns="0" rIns="0" bIns="0" rtlCol="0" anchor="t">
            <a:spAutoFit/>
          </a:bodyPr>
          <a:lstStyle/>
          <a:p>
            <a:pPr marL="0" indent="0" algn="l">
              <a:lnSpc>
                <a:spcPts val="900"/>
              </a:lnSpc>
              <a:buNone/>
            </a:pPr>
            <a:r>
              <a:rPr lang="en-US" sz="727" dirty="0">
                <a:solidFill>
                  <a:srgbClr val="3F3F46"/>
                </a:solidFill>
                <a:latin typeface="IBM Plex Mono" pitchFamily="34" charset="0"/>
                <a:ea typeface="IBM Plex Mono" pitchFamily="34" charset="-122"/>
                <a:cs typeface="IBM Plex Mono" pitchFamily="34" charset="-120"/>
              </a:rPr>
              <a:t>3f</a:t>
            </a:r>
            <a:endParaRPr lang="en-US" sz="727" dirty="0"/>
          </a:p>
        </p:txBody>
      </p:sp>
      <p:sp>
        <p:nvSpPr>
          <p:cNvPr id="13" name="Text 10"/>
          <p:cNvSpPr/>
          <p:nvPr/>
        </p:nvSpPr>
        <p:spPr>
          <a:xfrm>
            <a:off x="5128961" y="4386263"/>
            <a:ext cx="121444" cy="128588"/>
          </a:xfrm>
          <a:prstGeom prst="rect">
            <a:avLst/>
          </a:prstGeom>
          <a:noFill/>
          <a:ln/>
        </p:spPr>
        <p:txBody>
          <a:bodyPr wrap="none" lIns="0" tIns="0" rIns="0" bIns="0" rtlCol="0" anchor="t">
            <a:spAutoFit/>
          </a:bodyPr>
          <a:lstStyle/>
          <a:p>
            <a:pPr marL="0" indent="0" algn="l">
              <a:lnSpc>
                <a:spcPts val="900"/>
              </a:lnSpc>
              <a:buNone/>
            </a:pPr>
            <a:r>
              <a:rPr lang="en-US" sz="727" dirty="0">
                <a:solidFill>
                  <a:srgbClr val="3F3F46"/>
                </a:solidFill>
                <a:latin typeface="IBM Plex Mono" pitchFamily="34" charset="0"/>
                <a:ea typeface="IBM Plex Mono" pitchFamily="34" charset="-122"/>
                <a:cs typeface="IBM Plex Mono" pitchFamily="34" charset="-120"/>
              </a:rPr>
              <a:t>4f</a:t>
            </a:r>
            <a:endParaRPr lang="en-US" sz="727" dirty="0"/>
          </a:p>
        </p:txBody>
      </p:sp>
      <p:sp>
        <p:nvSpPr>
          <p:cNvPr id="14" name="Text 11"/>
          <p:cNvSpPr/>
          <p:nvPr/>
        </p:nvSpPr>
        <p:spPr>
          <a:xfrm>
            <a:off x="5704508" y="4386263"/>
            <a:ext cx="121444" cy="128588"/>
          </a:xfrm>
          <a:prstGeom prst="rect">
            <a:avLst/>
          </a:prstGeom>
          <a:noFill/>
          <a:ln/>
        </p:spPr>
        <p:txBody>
          <a:bodyPr wrap="none" lIns="0" tIns="0" rIns="0" bIns="0" rtlCol="0" anchor="t">
            <a:spAutoFit/>
          </a:bodyPr>
          <a:lstStyle/>
          <a:p>
            <a:pPr marL="0" indent="0" algn="l">
              <a:lnSpc>
                <a:spcPts val="900"/>
              </a:lnSpc>
              <a:buNone/>
            </a:pPr>
            <a:r>
              <a:rPr lang="en-US" sz="727" dirty="0">
                <a:solidFill>
                  <a:srgbClr val="3F3F46"/>
                </a:solidFill>
                <a:latin typeface="IBM Plex Mono" pitchFamily="34" charset="0"/>
                <a:ea typeface="IBM Plex Mono" pitchFamily="34" charset="-122"/>
                <a:cs typeface="IBM Plex Mono" pitchFamily="34" charset="-120"/>
              </a:rPr>
              <a:t>5f</a:t>
            </a:r>
            <a:endParaRPr lang="en-US" sz="727" dirty="0"/>
          </a:p>
        </p:txBody>
      </p:sp>
      <p:sp>
        <p:nvSpPr>
          <p:cNvPr id="15" name="Text 12"/>
          <p:cNvSpPr/>
          <p:nvPr/>
        </p:nvSpPr>
        <p:spPr>
          <a:xfrm>
            <a:off x="6312201" y="1071563"/>
            <a:ext cx="1115690"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INSTRUMENT A</a:t>
            </a:r>
            <a:endParaRPr lang="en-US" sz="1200" dirty="0"/>
          </a:p>
        </p:txBody>
      </p:sp>
      <p:sp>
        <p:nvSpPr>
          <p:cNvPr id="16" name="Text 13"/>
          <p:cNvSpPr/>
          <p:nvPr/>
        </p:nvSpPr>
        <p:spPr>
          <a:xfrm>
            <a:off x="6312201" y="1316236"/>
            <a:ext cx="2646034" cy="428625"/>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18181B"/>
                </a:solidFill>
                <a:latin typeface="Inter" pitchFamily="34" charset="0"/>
                <a:ea typeface="Inter" pitchFamily="34" charset="-122"/>
                <a:cs typeface="Inter" pitchFamily="34" charset="-120"/>
              </a:rPr>
              <a:t>Stronger first harmonic, weaker upper harmonics → smoother tone.</a:t>
            </a:r>
            <a:endParaRPr lang="en-US" sz="1100" dirty="0"/>
          </a:p>
        </p:txBody>
      </p:sp>
      <p:sp>
        <p:nvSpPr>
          <p:cNvPr id="17" name="Text 14"/>
          <p:cNvSpPr/>
          <p:nvPr/>
        </p:nvSpPr>
        <p:spPr>
          <a:xfrm>
            <a:off x="6312201" y="2878931"/>
            <a:ext cx="1115690"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INSTRUMENT B</a:t>
            </a:r>
            <a:endParaRPr lang="en-US" sz="1200" dirty="0"/>
          </a:p>
        </p:txBody>
      </p:sp>
      <p:sp>
        <p:nvSpPr>
          <p:cNvPr id="18" name="Text 15"/>
          <p:cNvSpPr/>
          <p:nvPr/>
        </p:nvSpPr>
        <p:spPr>
          <a:xfrm>
            <a:off x="6312201" y="3123605"/>
            <a:ext cx="2646034" cy="428625"/>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18181B"/>
                </a:solidFill>
                <a:latin typeface="Inter" pitchFamily="34" charset="0"/>
                <a:ea typeface="Inter" pitchFamily="34" charset="-122"/>
                <a:cs typeface="Inter" pitchFamily="34" charset="-120"/>
              </a:rPr>
              <a:t>Same pitch, but more upper harmonics → brighter spectral signature.</a:t>
            </a:r>
            <a:endParaRPr lang="en-US" sz="1100" dirty="0"/>
          </a:p>
        </p:txBody>
      </p:sp>
      <p:sp>
        <p:nvSpPr>
          <p:cNvPr id="19" name="Shape 16"/>
          <p:cNvSpPr/>
          <p:nvPr/>
        </p:nvSpPr>
        <p:spPr>
          <a:xfrm>
            <a:off x="0" y="4514850"/>
            <a:ext cx="9144000" cy="628650"/>
          </a:xfrm>
          <a:prstGeom prst="rect">
            <a:avLst/>
          </a:prstGeom>
          <a:solidFill>
            <a:srgbClr val="000000">
              <a:alpha val="0"/>
            </a:srgbClr>
          </a:solidFill>
          <a:ln/>
        </p:spPr>
      </p:sp>
      <p:sp>
        <p:nvSpPr>
          <p:cNvPr id="20" name="Shape 17"/>
          <p:cNvSpPr/>
          <p:nvPr/>
        </p:nvSpPr>
        <p:spPr>
          <a:xfrm>
            <a:off x="0" y="4514850"/>
            <a:ext cx="9144000" cy="7144"/>
          </a:xfrm>
          <a:prstGeom prst="rect">
            <a:avLst/>
          </a:prstGeom>
          <a:solidFill>
            <a:srgbClr val="18181B"/>
          </a:solidFill>
          <a:ln/>
        </p:spPr>
      </p:sp>
      <p:sp>
        <p:nvSpPr>
          <p:cNvPr id="23" name="Text 2">
            <a:extLst>
              <a:ext uri="{FF2B5EF4-FFF2-40B4-BE49-F238E27FC236}">
                <a16:creationId xmlns:a16="http://schemas.microsoft.com/office/drawing/2014/main" id="{9A7F9C62-708C-301C-4A42-4CD16E4163C6}"/>
              </a:ext>
            </a:extLst>
          </p:cNvPr>
          <p:cNvSpPr/>
          <p:nvPr/>
        </p:nvSpPr>
        <p:spPr>
          <a:xfrm>
            <a:off x="342899" y="141536"/>
            <a:ext cx="506101"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HARMONICS</a:t>
            </a:r>
            <a:endParaRPr lang="en-US" sz="727" dirty="0"/>
          </a:p>
        </p:txBody>
      </p:sp>
      <p:sp>
        <p:nvSpPr>
          <p:cNvPr id="24" name="Text 3">
            <a:extLst>
              <a:ext uri="{FF2B5EF4-FFF2-40B4-BE49-F238E27FC236}">
                <a16:creationId xmlns:a16="http://schemas.microsoft.com/office/drawing/2014/main" id="{90BB52CD-5400-51E1-2B72-9ED841EDD3EA}"/>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Real instruments contain families of frequencies, not one pure note</a:t>
            </a:r>
            <a:endParaRPr lang="en-US" sz="1602" dirty="0"/>
          </a:p>
        </p:txBody>
      </p:sp>
      <p:sp>
        <p:nvSpPr>
          <p:cNvPr id="25" name="Text 23">
            <a:extLst>
              <a:ext uri="{FF2B5EF4-FFF2-40B4-BE49-F238E27FC236}">
                <a16:creationId xmlns:a16="http://schemas.microsoft.com/office/drawing/2014/main" id="{828F3783-462B-64C8-E94F-E62C4E076508}"/>
              </a:ext>
            </a:extLst>
          </p:cNvPr>
          <p:cNvSpPr/>
          <p:nvPr/>
        </p:nvSpPr>
        <p:spPr>
          <a:xfrm>
            <a:off x="781101" y="4741728"/>
            <a:ext cx="7787516" cy="182038"/>
          </a:xfrm>
          <a:prstGeom prst="rect">
            <a:avLst/>
          </a:prstGeom>
          <a:noFill/>
          <a:ln/>
        </p:spPr>
        <p:txBody>
          <a:bodyPr wrap="none" lIns="0" tIns="0" rIns="0" bIns="0" rtlCol="0" anchor="t">
            <a:spAutoFit/>
          </a:bodyPr>
          <a:lstStyle/>
          <a:p>
            <a:pPr>
              <a:lnSpc>
                <a:spcPts val="1400"/>
              </a:lnSpc>
            </a:pPr>
            <a:r>
              <a:rPr lang="en-US" sz="1400" b="1" dirty="0">
                <a:solidFill>
                  <a:srgbClr val="18181B"/>
                </a:solidFill>
                <a:latin typeface="Inter" pitchFamily="34" charset="0"/>
                <a:ea typeface="Inter" pitchFamily="34" charset="-122"/>
                <a:cs typeface="Inter" pitchFamily="34" charset="-120"/>
              </a:rPr>
              <a:t>Key idea: </a:t>
            </a:r>
            <a:r>
              <a:rPr lang="en-US" sz="1400" dirty="0">
                <a:solidFill>
                  <a:srgbClr val="3F3F46"/>
                </a:solidFill>
                <a:latin typeface="Inter" pitchFamily="34" charset="0"/>
                <a:ea typeface="Inter" pitchFamily="34" charset="-122"/>
                <a:cs typeface="Inter" pitchFamily="34" charset="-120"/>
              </a:rPr>
              <a:t>Frequency analysis reveals the hidden recipe that makes one instrument sound unlike another.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300038" y="1157288"/>
            <a:ext cx="3290395" cy="1110407"/>
          </a:xfrm>
          <a:prstGeom prst="rect">
            <a:avLst/>
          </a:prstGeom>
          <a:noFill/>
          <a:ln/>
        </p:spPr>
        <p:txBody>
          <a:bodyPr wrap="square" lIns="0" tIns="0" rIns="0" bIns="0" rtlCol="0" anchor="t">
            <a:spAutoFit/>
          </a:bodyPr>
          <a:lstStyle/>
          <a:p>
            <a:pPr marL="0" indent="0" algn="just">
              <a:lnSpc>
                <a:spcPts val="2200"/>
              </a:lnSpc>
              <a:buNone/>
            </a:pPr>
            <a:r>
              <a:rPr lang="en-US" sz="1600" dirty="0">
                <a:solidFill>
                  <a:srgbClr val="18181B"/>
                </a:solidFill>
                <a:latin typeface="Inter" pitchFamily="34" charset="0"/>
                <a:ea typeface="Inter" pitchFamily="34" charset="-122"/>
                <a:cs typeface="Inter" pitchFamily="34" charset="-120"/>
              </a:rPr>
              <a:t>The frequency domain is useful because it turns a mixed pattern into parts that can be handled </a:t>
            </a:r>
            <a:r>
              <a:rPr lang="en-US" sz="1600" b="1" dirty="0">
                <a:solidFill>
                  <a:srgbClr val="EA580C"/>
                </a:solidFill>
                <a:latin typeface="Inter" pitchFamily="34" charset="0"/>
                <a:ea typeface="Inter" pitchFamily="34" charset="-122"/>
                <a:cs typeface="Inter" pitchFamily="34" charset="-120"/>
              </a:rPr>
              <a:t>more independently</a:t>
            </a:r>
            <a:r>
              <a:rPr lang="en-US" sz="1600" dirty="0">
                <a:solidFill>
                  <a:srgbClr val="18181B"/>
                </a:solidFill>
                <a:latin typeface="Inter" pitchFamily="34" charset="0"/>
                <a:ea typeface="Inter" pitchFamily="34" charset="-122"/>
                <a:cs typeface="Inter" pitchFamily="34" charset="-120"/>
              </a:rPr>
              <a:t>.</a:t>
            </a:r>
            <a:endParaRPr lang="en-US" sz="1600" dirty="0"/>
          </a:p>
        </p:txBody>
      </p:sp>
      <p:sp>
        <p:nvSpPr>
          <p:cNvPr id="8" name="Text 5"/>
          <p:cNvSpPr/>
          <p:nvPr/>
        </p:nvSpPr>
        <p:spPr>
          <a:xfrm>
            <a:off x="300038" y="2533423"/>
            <a:ext cx="3290395" cy="633379"/>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A filter can often be described as “keep this range, weaken that range.” This is easier to think about than editing the entire tangled waveform directly.</a:t>
            </a:r>
            <a:endParaRPr lang="en-US" sz="1100" dirty="0"/>
          </a:p>
        </p:txBody>
      </p:sp>
      <p:sp>
        <p:nvSpPr>
          <p:cNvPr id="9" name="Text 6"/>
          <p:cNvSpPr/>
          <p:nvPr/>
        </p:nvSpPr>
        <p:spPr>
          <a:xfrm>
            <a:off x="300038" y="3357045"/>
            <a:ext cx="3290395" cy="964623"/>
          </a:xfrm>
          <a:prstGeom prst="rect">
            <a:avLst/>
          </a:prstGeom>
          <a:noFill/>
          <a:ln/>
        </p:spPr>
        <p:txBody>
          <a:bodyPr wrap="square" lIns="0" tIns="153035" rIns="0"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Engineers also like this view because many system operations that look messy in time become simpler relationships in frequency, including the famous idea that convolution becomes multiplication.</a:t>
            </a:r>
            <a:endParaRPr lang="en-US" sz="1100" dirty="0"/>
          </a:p>
        </p:txBody>
      </p:sp>
      <p:sp>
        <p:nvSpPr>
          <p:cNvPr id="10" name="Text 7"/>
          <p:cNvSpPr/>
          <p:nvPr/>
        </p:nvSpPr>
        <p:spPr>
          <a:xfrm>
            <a:off x="4011913" y="1156355"/>
            <a:ext cx="2061670" cy="146066"/>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BEFORE FILTERING</a:t>
            </a:r>
            <a:endParaRPr lang="en-US" sz="1200" dirty="0"/>
          </a:p>
        </p:txBody>
      </p:sp>
      <p:sp>
        <p:nvSpPr>
          <p:cNvPr id="11" name="Text 8"/>
          <p:cNvSpPr/>
          <p:nvPr/>
        </p:nvSpPr>
        <p:spPr>
          <a:xfrm>
            <a:off x="6944395" y="1088310"/>
            <a:ext cx="2061697" cy="287130"/>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AFTER REMOVING SELECTED FREQUENCIES</a:t>
            </a:r>
            <a:endParaRPr lang="en-US" sz="1200" dirty="0"/>
          </a:p>
        </p:txBody>
      </p:sp>
      <p:sp>
        <p:nvSpPr>
          <p:cNvPr id="12" name="Shape 9"/>
          <p:cNvSpPr/>
          <p:nvPr/>
        </p:nvSpPr>
        <p:spPr>
          <a:xfrm>
            <a:off x="4116195" y="1793081"/>
            <a:ext cx="1785938" cy="1000125"/>
          </a:xfrm>
          <a:prstGeom prst="rect">
            <a:avLst/>
          </a:prstGeom>
          <a:noFill/>
          <a:ln w="9144">
            <a:solidFill>
              <a:srgbClr val="18181B"/>
            </a:solidFill>
            <a:prstDash val="solid"/>
          </a:ln>
        </p:spPr>
      </p:sp>
      <p:sp>
        <p:nvSpPr>
          <p:cNvPr id="13" name="Text 10"/>
          <p:cNvSpPr/>
          <p:nvPr/>
        </p:nvSpPr>
        <p:spPr>
          <a:xfrm>
            <a:off x="6338613" y="1800612"/>
            <a:ext cx="307181" cy="300916"/>
          </a:xfrm>
          <a:prstGeom prst="rect">
            <a:avLst/>
          </a:prstGeom>
          <a:noFill/>
          <a:ln/>
        </p:spPr>
        <p:txBody>
          <a:bodyPr wrap="square" lIns="0" tIns="0" rIns="0" bIns="0" rtlCol="0" anchor="t">
            <a:spAutoFit/>
          </a:bodyPr>
          <a:lstStyle/>
          <a:p>
            <a:pPr marL="0" indent="0" algn="ctr">
              <a:lnSpc>
                <a:spcPts val="1200"/>
              </a:lnSpc>
              <a:buNone/>
            </a:pPr>
            <a:r>
              <a:rPr lang="en-US" sz="942" dirty="0">
                <a:solidFill>
                  <a:srgbClr val="18181B"/>
                </a:solidFill>
                <a:latin typeface="IBM Plex Mono" pitchFamily="34" charset="0"/>
                <a:ea typeface="IBM Plex Mono" pitchFamily="34" charset="-122"/>
                <a:cs typeface="IBM Plex Mono" pitchFamily="34" charset="-120"/>
              </a:rPr>
              <a:t>keep ↓</a:t>
            </a:r>
            <a:endParaRPr lang="en-US" sz="942" dirty="0"/>
          </a:p>
        </p:txBody>
      </p:sp>
      <p:sp>
        <p:nvSpPr>
          <p:cNvPr id="14" name="Text 11"/>
          <p:cNvSpPr/>
          <p:nvPr/>
        </p:nvSpPr>
        <p:spPr>
          <a:xfrm>
            <a:off x="6261831" y="2533423"/>
            <a:ext cx="460772" cy="300916"/>
          </a:xfrm>
          <a:prstGeom prst="rect">
            <a:avLst/>
          </a:prstGeom>
          <a:noFill/>
          <a:ln/>
        </p:spPr>
        <p:txBody>
          <a:bodyPr wrap="square" lIns="0" tIns="0" rIns="0" bIns="0" rtlCol="0" anchor="t">
            <a:spAutoFit/>
          </a:bodyPr>
          <a:lstStyle/>
          <a:p>
            <a:pPr marL="0" indent="0" algn="ctr">
              <a:lnSpc>
                <a:spcPts val="1200"/>
              </a:lnSpc>
              <a:buNone/>
            </a:pPr>
            <a:r>
              <a:rPr lang="en-US" sz="942" dirty="0">
                <a:solidFill>
                  <a:srgbClr val="18181B"/>
                </a:solidFill>
                <a:latin typeface="IBM Plex Mono" pitchFamily="34" charset="0"/>
                <a:ea typeface="IBM Plex Mono" pitchFamily="34" charset="-122"/>
                <a:cs typeface="IBM Plex Mono" pitchFamily="34" charset="-120"/>
              </a:rPr>
              <a:t>remove ↑</a:t>
            </a:r>
            <a:endParaRPr lang="en-US" sz="942" dirty="0"/>
          </a:p>
        </p:txBody>
      </p:sp>
      <p:sp>
        <p:nvSpPr>
          <p:cNvPr id="15" name="Shape 12"/>
          <p:cNvSpPr/>
          <p:nvPr/>
        </p:nvSpPr>
        <p:spPr>
          <a:xfrm>
            <a:off x="7082275" y="1793081"/>
            <a:ext cx="1785938" cy="1000125"/>
          </a:xfrm>
          <a:prstGeom prst="rect">
            <a:avLst/>
          </a:prstGeom>
          <a:noFill/>
          <a:ln w="9144">
            <a:solidFill>
              <a:srgbClr val="18181B"/>
            </a:solidFill>
            <a:prstDash val="solid"/>
          </a:ln>
        </p:spPr>
      </p:sp>
      <p:sp>
        <p:nvSpPr>
          <p:cNvPr id="16" name="Text 13"/>
          <p:cNvSpPr/>
          <p:nvPr/>
        </p:nvSpPr>
        <p:spPr>
          <a:xfrm>
            <a:off x="4011913" y="3221831"/>
            <a:ext cx="836768"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FILTERING</a:t>
            </a:r>
            <a:endParaRPr lang="en-US" sz="1200" dirty="0"/>
          </a:p>
        </p:txBody>
      </p:sp>
      <p:sp>
        <p:nvSpPr>
          <p:cNvPr id="17" name="Text 14"/>
          <p:cNvSpPr/>
          <p:nvPr/>
        </p:nvSpPr>
        <p:spPr>
          <a:xfrm>
            <a:off x="4011913" y="3457575"/>
            <a:ext cx="2301711" cy="399725"/>
          </a:xfrm>
          <a:prstGeom prst="rect">
            <a:avLst/>
          </a:prstGeom>
          <a:noFill/>
          <a:ln/>
        </p:spPr>
        <p:txBody>
          <a:bodyPr wrap="square" lIns="0" tIns="0" rIns="0" bIns="0" rtlCol="0" anchor="t">
            <a:spAutoFit/>
          </a:bodyPr>
          <a:lstStyle/>
          <a:p>
            <a:pPr marL="0" indent="0" algn="just">
              <a:lnSpc>
                <a:spcPts val="1600"/>
              </a:lnSpc>
              <a:buNone/>
            </a:pPr>
            <a:r>
              <a:rPr lang="en-US" sz="1200" dirty="0">
                <a:solidFill>
                  <a:srgbClr val="3F3F46"/>
                </a:solidFill>
                <a:latin typeface="Inter" pitchFamily="34" charset="0"/>
                <a:ea typeface="Inter" pitchFamily="34" charset="-122"/>
                <a:cs typeface="Inter" pitchFamily="34" charset="-120"/>
              </a:rPr>
              <a:t>Select the frequency range you want to keep, suppress, or amplify.</a:t>
            </a:r>
            <a:endParaRPr lang="en-US" sz="1200" dirty="0"/>
          </a:p>
        </p:txBody>
      </p:sp>
      <p:sp>
        <p:nvSpPr>
          <p:cNvPr id="18" name="Text 15"/>
          <p:cNvSpPr/>
          <p:nvPr/>
        </p:nvSpPr>
        <p:spPr>
          <a:xfrm>
            <a:off x="6663668" y="3221831"/>
            <a:ext cx="1394613"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SYSTEM BEHAVIOR</a:t>
            </a:r>
            <a:endParaRPr lang="en-US" sz="1200" dirty="0"/>
          </a:p>
        </p:txBody>
      </p:sp>
      <p:sp>
        <p:nvSpPr>
          <p:cNvPr id="19" name="Text 16"/>
          <p:cNvSpPr/>
          <p:nvPr/>
        </p:nvSpPr>
        <p:spPr>
          <a:xfrm>
            <a:off x="6663668" y="3457575"/>
            <a:ext cx="2308854" cy="825215"/>
          </a:xfrm>
          <a:prstGeom prst="rect">
            <a:avLst/>
          </a:prstGeom>
          <a:noFill/>
          <a:ln/>
        </p:spPr>
        <p:txBody>
          <a:bodyPr wrap="square" lIns="0" tIns="0" rIns="0" bIns="0" rtlCol="0" anchor="t">
            <a:spAutoFit/>
          </a:bodyPr>
          <a:lstStyle/>
          <a:p>
            <a:pPr marL="0" indent="0" algn="just">
              <a:lnSpc>
                <a:spcPts val="1600"/>
              </a:lnSpc>
              <a:buNone/>
            </a:pPr>
            <a:r>
              <a:rPr lang="en-US" sz="1200" dirty="0">
                <a:solidFill>
                  <a:srgbClr val="3F3F46"/>
                </a:solidFill>
                <a:latin typeface="Inter" pitchFamily="34" charset="0"/>
                <a:ea typeface="Inter" pitchFamily="34" charset="-122"/>
                <a:cs typeface="Inter" pitchFamily="34" charset="-120"/>
              </a:rPr>
              <a:t>Ask how the system treats slow versus fast components instead of wrestling with the whole waveform at once.</a:t>
            </a:r>
            <a:endParaRPr lang="en-US" sz="1200" dirty="0"/>
          </a:p>
        </p:txBody>
      </p:sp>
      <p:sp>
        <p:nvSpPr>
          <p:cNvPr id="20" name="Shape 17"/>
          <p:cNvSpPr/>
          <p:nvPr/>
        </p:nvSpPr>
        <p:spPr>
          <a:xfrm>
            <a:off x="0" y="4514850"/>
            <a:ext cx="9144000" cy="628650"/>
          </a:xfrm>
          <a:prstGeom prst="rect">
            <a:avLst/>
          </a:prstGeom>
          <a:solidFill>
            <a:srgbClr val="000000">
              <a:alpha val="0"/>
            </a:srgbClr>
          </a:solidFill>
          <a:ln/>
        </p:spPr>
      </p:sp>
      <p:sp>
        <p:nvSpPr>
          <p:cNvPr id="21" name="Shape 18"/>
          <p:cNvSpPr/>
          <p:nvPr/>
        </p:nvSpPr>
        <p:spPr>
          <a:xfrm>
            <a:off x="0" y="4514850"/>
            <a:ext cx="9144000" cy="7144"/>
          </a:xfrm>
          <a:prstGeom prst="rect">
            <a:avLst/>
          </a:prstGeom>
          <a:solidFill>
            <a:srgbClr val="18181B"/>
          </a:solidFill>
          <a:ln/>
        </p:spPr>
      </p:sp>
      <p:sp>
        <p:nvSpPr>
          <p:cNvPr id="24" name="Text 2">
            <a:extLst>
              <a:ext uri="{FF2B5EF4-FFF2-40B4-BE49-F238E27FC236}">
                <a16:creationId xmlns:a16="http://schemas.microsoft.com/office/drawing/2014/main" id="{E509B219-D6A0-FFB1-4C10-666EFB360293}"/>
              </a:ext>
            </a:extLst>
          </p:cNvPr>
          <p:cNvSpPr/>
          <p:nvPr/>
        </p:nvSpPr>
        <p:spPr>
          <a:xfrm>
            <a:off x="342899" y="141536"/>
            <a:ext cx="1124667"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WHY ENGINEERS USE IT</a:t>
            </a:r>
            <a:endParaRPr lang="en-US" sz="727" dirty="0"/>
          </a:p>
        </p:txBody>
      </p:sp>
      <p:sp>
        <p:nvSpPr>
          <p:cNvPr id="25" name="Text 3">
            <a:extLst>
              <a:ext uri="{FF2B5EF4-FFF2-40B4-BE49-F238E27FC236}">
                <a16:creationId xmlns:a16="http://schemas.microsoft.com/office/drawing/2014/main" id="{3A3735D5-761C-7AC0-A9D7-997A3DF7C398}"/>
              </a:ext>
            </a:extLst>
          </p:cNvPr>
          <p:cNvSpPr/>
          <p:nvPr/>
        </p:nvSpPr>
        <p:spPr>
          <a:xfrm>
            <a:off x="300039" y="266049"/>
            <a:ext cx="5574970"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In the frequency view, filtering and system analysis become simpler</a:t>
            </a:r>
            <a:endParaRPr lang="en-US" sz="1602" dirty="0"/>
          </a:p>
        </p:txBody>
      </p:sp>
      <p:sp>
        <p:nvSpPr>
          <p:cNvPr id="26" name="Text 23">
            <a:extLst>
              <a:ext uri="{FF2B5EF4-FFF2-40B4-BE49-F238E27FC236}">
                <a16:creationId xmlns:a16="http://schemas.microsoft.com/office/drawing/2014/main" id="{29467098-B8EE-B637-0872-6DBAB74B3FAC}"/>
              </a:ext>
            </a:extLst>
          </p:cNvPr>
          <p:cNvSpPr/>
          <p:nvPr/>
        </p:nvSpPr>
        <p:spPr>
          <a:xfrm>
            <a:off x="1203225" y="4738156"/>
            <a:ext cx="6737550"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Important: </a:t>
            </a:r>
            <a:r>
              <a:rPr lang="en-US" sz="1400" dirty="0">
                <a:solidFill>
                  <a:srgbClr val="3F3F46"/>
                </a:solidFill>
                <a:latin typeface="Inter" pitchFamily="34" charset="0"/>
                <a:ea typeface="Inter" pitchFamily="34" charset="-122"/>
                <a:cs typeface="Inter" pitchFamily="34" charset="-120"/>
              </a:rPr>
              <a:t>Frequency does not replace time—it reveals structure that time alone may hide.</a:t>
            </a:r>
            <a:endParaRPr lang="en-US" sz="1400" dirty="0"/>
          </a:p>
        </p:txBody>
      </p:sp>
      <p:cxnSp>
        <p:nvCxnSpPr>
          <p:cNvPr id="27" name="Straight Connector 26">
            <a:extLst>
              <a:ext uri="{FF2B5EF4-FFF2-40B4-BE49-F238E27FC236}">
                <a16:creationId xmlns:a16="http://schemas.microsoft.com/office/drawing/2014/main" id="{921143DA-27C9-6532-0927-9E4962DCCA3E}"/>
              </a:ext>
            </a:extLst>
          </p:cNvPr>
          <p:cNvCxnSpPr>
            <a:cxnSpLocks/>
          </p:cNvCxnSpPr>
          <p:nvPr/>
        </p:nvCxnSpPr>
        <p:spPr>
          <a:xfrm>
            <a:off x="6485085" y="892969"/>
            <a:ext cx="0" cy="661511"/>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285750" y="1143000"/>
            <a:ext cx="2341699" cy="525465"/>
          </a:xfrm>
          <a:prstGeom prst="rect">
            <a:avLst/>
          </a:prstGeom>
          <a:noFill/>
          <a:ln/>
        </p:spPr>
        <p:txBody>
          <a:bodyPr wrap="square" lIns="0" tIns="0" rIns="0" bIns="0" rtlCol="0" anchor="t">
            <a:spAutoFit/>
          </a:bodyPr>
          <a:lstStyle/>
          <a:p>
            <a:pPr marL="0" indent="0" algn="just">
              <a:lnSpc>
                <a:spcPts val="2100"/>
              </a:lnSpc>
              <a:buNone/>
            </a:pPr>
            <a:r>
              <a:rPr lang="en-US" sz="1600" dirty="0">
                <a:solidFill>
                  <a:srgbClr val="18181B"/>
                </a:solidFill>
                <a:latin typeface="Inter" pitchFamily="34" charset="0"/>
                <a:ea typeface="Inter" pitchFamily="34" charset="-122"/>
                <a:cs typeface="Inter" pitchFamily="34" charset="-120"/>
              </a:rPr>
              <a:t>High frequencies are often where </a:t>
            </a:r>
            <a:r>
              <a:rPr lang="en-US" sz="1600" b="1" dirty="0">
                <a:solidFill>
                  <a:srgbClr val="EA580C"/>
                </a:solidFill>
                <a:latin typeface="Inter" pitchFamily="34" charset="0"/>
                <a:ea typeface="Inter" pitchFamily="34" charset="-122"/>
                <a:cs typeface="Inter" pitchFamily="34" charset="-120"/>
              </a:rPr>
              <a:t>fine change</a:t>
            </a:r>
            <a:r>
              <a:rPr lang="en-US" sz="1600" dirty="0">
                <a:solidFill>
                  <a:srgbClr val="18181B"/>
                </a:solidFill>
                <a:latin typeface="Inter" pitchFamily="34" charset="0"/>
                <a:ea typeface="Inter" pitchFamily="34" charset="-122"/>
                <a:cs typeface="Inter" pitchFamily="34" charset="-120"/>
              </a:rPr>
              <a:t> lives.</a:t>
            </a:r>
            <a:endParaRPr lang="en-US" sz="1600" dirty="0"/>
          </a:p>
        </p:txBody>
      </p:sp>
      <p:sp>
        <p:nvSpPr>
          <p:cNvPr id="8" name="Text 5"/>
          <p:cNvSpPr/>
          <p:nvPr/>
        </p:nvSpPr>
        <p:spPr>
          <a:xfrm>
            <a:off x="285750" y="2075678"/>
            <a:ext cx="2341699" cy="1290803"/>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They can sharpen an image, brighten a sound, and add crisp edges. They can also carry hiss, grain, or small random fluctuations. So high frequency is not “good” or “bad” by itself—it is often where detail and noise coexist.</a:t>
            </a:r>
            <a:endParaRPr lang="en-US" sz="1100" dirty="0"/>
          </a:p>
        </p:txBody>
      </p:sp>
      <p:sp>
        <p:nvSpPr>
          <p:cNvPr id="9" name="Text 6"/>
          <p:cNvSpPr/>
          <p:nvPr/>
        </p:nvSpPr>
        <p:spPr>
          <a:xfrm>
            <a:off x="2834618" y="1084255"/>
            <a:ext cx="3284674" cy="146066"/>
          </a:xfrm>
          <a:prstGeom prst="rect">
            <a:avLst/>
          </a:prstGeom>
          <a:noFill/>
          <a:ln/>
        </p:spPr>
        <p:txBody>
          <a:bodyPr wrap="square" lIns="0" tIns="0" rIns="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SKETCH ANALOGY</a:t>
            </a:r>
            <a:endParaRPr lang="en-US" sz="1200" dirty="0"/>
          </a:p>
        </p:txBody>
      </p:sp>
      <p:sp>
        <p:nvSpPr>
          <p:cNvPr id="10" name="Text 7"/>
          <p:cNvSpPr/>
          <p:nvPr/>
        </p:nvSpPr>
        <p:spPr>
          <a:xfrm>
            <a:off x="3006068" y="1527480"/>
            <a:ext cx="2039020" cy="133050"/>
          </a:xfrm>
          <a:prstGeom prst="rect">
            <a:avLst/>
          </a:prstGeom>
          <a:noFill/>
          <a:ln/>
        </p:spPr>
        <p:txBody>
          <a:bodyPr wrap="none" lIns="0" tIns="0" rIns="0" bIns="0" rtlCol="0" anchor="t">
            <a:spAutoFit/>
          </a:bodyPr>
          <a:lstStyle/>
          <a:p>
            <a:pPr marL="0" indent="0" algn="l">
              <a:lnSpc>
                <a:spcPts val="1000"/>
              </a:lnSpc>
              <a:buNone/>
            </a:pPr>
            <a:r>
              <a:rPr lang="en-US" sz="1100" dirty="0">
                <a:solidFill>
                  <a:srgbClr val="3F3F46"/>
                </a:solidFill>
                <a:latin typeface="IBM Plex Mono" pitchFamily="34" charset="0"/>
                <a:ea typeface="IBM Plex Mono" pitchFamily="34" charset="-122"/>
                <a:cs typeface="IBM Plex Mono" pitchFamily="34" charset="-120"/>
              </a:rPr>
              <a:t>LOW FREQUENCY IMPRESSION</a:t>
            </a:r>
            <a:endParaRPr lang="en-US" sz="1100" dirty="0"/>
          </a:p>
        </p:txBody>
      </p:sp>
      <p:grpSp>
        <p:nvGrpSpPr>
          <p:cNvPr id="32" name="Group 31">
            <a:extLst>
              <a:ext uri="{FF2B5EF4-FFF2-40B4-BE49-F238E27FC236}">
                <a16:creationId xmlns:a16="http://schemas.microsoft.com/office/drawing/2014/main" id="{B92BCA35-3A1F-0E34-2A48-788B440E0CEC}"/>
              </a:ext>
            </a:extLst>
          </p:cNvPr>
          <p:cNvGrpSpPr/>
          <p:nvPr/>
        </p:nvGrpSpPr>
        <p:grpSpPr>
          <a:xfrm>
            <a:off x="3191079" y="1779127"/>
            <a:ext cx="2571750" cy="685800"/>
            <a:chOff x="3006068" y="1798439"/>
            <a:chExt cx="2571750" cy="685800"/>
          </a:xfrm>
        </p:grpSpPr>
        <p:sp>
          <p:nvSpPr>
            <p:cNvPr id="11" name="Shape 8"/>
            <p:cNvSpPr/>
            <p:nvPr/>
          </p:nvSpPr>
          <p:spPr>
            <a:xfrm>
              <a:off x="3006068" y="1798439"/>
              <a:ext cx="2571750" cy="685800"/>
            </a:xfrm>
            <a:prstGeom prst="rect">
              <a:avLst/>
            </a:prstGeom>
            <a:solidFill>
              <a:srgbClr val="FFFFFF">
                <a:alpha val="82000"/>
              </a:srgbClr>
            </a:solidFill>
            <a:ln w="9144">
              <a:solidFill>
                <a:srgbClr val="18181B"/>
              </a:solidFill>
              <a:prstDash val="solid"/>
            </a:ln>
          </p:spPr>
        </p:sp>
        <p:sp>
          <p:nvSpPr>
            <p:cNvPr id="12" name="Text 9"/>
            <p:cNvSpPr/>
            <p:nvPr/>
          </p:nvSpPr>
          <p:spPr>
            <a:xfrm>
              <a:off x="3182875" y="1937742"/>
              <a:ext cx="2218134" cy="407194"/>
            </a:xfrm>
            <a:prstGeom prst="rect">
              <a:avLst/>
            </a:prstGeom>
            <a:noFill/>
            <a:ln/>
          </p:spPr>
          <p:txBody>
            <a:bodyPr wrap="none" lIns="0" tIns="0" rIns="0" bIns="0" rtlCol="0" anchor="t">
              <a:spAutoFit/>
            </a:bodyPr>
            <a:lstStyle/>
            <a:p>
              <a:pPr marL="0" indent="0" algn="l">
                <a:lnSpc>
                  <a:spcPts val="3000"/>
                </a:lnSpc>
                <a:buNone/>
              </a:pPr>
              <a:r>
                <a:rPr lang="en-US" sz="2368" kern="0" spc="6" dirty="0">
                  <a:solidFill>
                    <a:srgbClr val="18181B"/>
                  </a:solidFill>
                  <a:latin typeface="IBM Plex Mono" pitchFamily="34" charset="0"/>
                  <a:ea typeface="IBM Plex Mono" pitchFamily="34" charset="-122"/>
                  <a:cs typeface="IBM Plex Mono" pitchFamily="34" charset="-120"/>
                </a:rPr>
                <a:t>__ /\\ __</a:t>
              </a:r>
              <a:endParaRPr lang="en-US" sz="2368" dirty="0"/>
            </a:p>
          </p:txBody>
        </p:sp>
      </p:grpSp>
      <p:sp>
        <p:nvSpPr>
          <p:cNvPr id="13" name="Text 10"/>
          <p:cNvSpPr/>
          <p:nvPr/>
        </p:nvSpPr>
        <p:spPr>
          <a:xfrm>
            <a:off x="3183936" y="2517896"/>
            <a:ext cx="2578893" cy="370486"/>
          </a:xfrm>
          <a:prstGeom prst="rect">
            <a:avLst/>
          </a:prstGeom>
          <a:noFill/>
          <a:ln/>
        </p:spPr>
        <p:txBody>
          <a:bodyPr wrap="square" lIns="0" tIns="0" rIns="0" bIns="0" rtlCol="0" anchor="t">
            <a:spAutoFit/>
          </a:bodyPr>
          <a:lstStyle/>
          <a:p>
            <a:pPr marL="0" indent="0" algn="just">
              <a:lnSpc>
                <a:spcPts val="1500"/>
              </a:lnSpc>
              <a:buNone/>
            </a:pPr>
            <a:r>
              <a:rPr lang="en-US" sz="1000" dirty="0">
                <a:solidFill>
                  <a:srgbClr val="3F3F46"/>
                </a:solidFill>
                <a:latin typeface="Inter" pitchFamily="34" charset="0"/>
                <a:ea typeface="Inter" pitchFamily="34" charset="-122"/>
                <a:cs typeface="Inter" pitchFamily="34" charset="-120"/>
              </a:rPr>
              <a:t>Broad strokes give the overall shape, but not the fine texture.</a:t>
            </a:r>
            <a:endParaRPr lang="en-US" sz="1000" dirty="0"/>
          </a:p>
        </p:txBody>
      </p:sp>
      <p:sp>
        <p:nvSpPr>
          <p:cNvPr id="14" name="Text 11"/>
          <p:cNvSpPr/>
          <p:nvPr/>
        </p:nvSpPr>
        <p:spPr>
          <a:xfrm>
            <a:off x="3006068" y="3107531"/>
            <a:ext cx="1954061" cy="133050"/>
          </a:xfrm>
          <a:prstGeom prst="rect">
            <a:avLst/>
          </a:prstGeom>
          <a:noFill/>
          <a:ln/>
        </p:spPr>
        <p:txBody>
          <a:bodyPr wrap="none" lIns="0" tIns="0" rIns="0" bIns="0" rtlCol="0" anchor="t">
            <a:spAutoFit/>
          </a:bodyPr>
          <a:lstStyle/>
          <a:p>
            <a:pPr marL="0" indent="0" algn="l">
              <a:lnSpc>
                <a:spcPts val="1000"/>
              </a:lnSpc>
              <a:buNone/>
            </a:pPr>
            <a:r>
              <a:rPr lang="en-US" sz="1100" dirty="0">
                <a:solidFill>
                  <a:srgbClr val="3F3F46"/>
                </a:solidFill>
                <a:latin typeface="IBM Plex Mono" pitchFamily="34" charset="0"/>
                <a:ea typeface="IBM Plex Mono" pitchFamily="34" charset="-122"/>
                <a:cs typeface="IBM Plex Mono" pitchFamily="34" charset="-120"/>
              </a:rPr>
              <a:t>HIGHER FREQUENCY DETAIL</a:t>
            </a:r>
            <a:endParaRPr lang="en-US" sz="1100" dirty="0"/>
          </a:p>
        </p:txBody>
      </p:sp>
      <p:grpSp>
        <p:nvGrpSpPr>
          <p:cNvPr id="33" name="Group 32">
            <a:extLst>
              <a:ext uri="{FF2B5EF4-FFF2-40B4-BE49-F238E27FC236}">
                <a16:creationId xmlns:a16="http://schemas.microsoft.com/office/drawing/2014/main" id="{9A7C3D47-77D2-497D-8443-F7E066DDC89A}"/>
              </a:ext>
            </a:extLst>
          </p:cNvPr>
          <p:cNvGrpSpPr/>
          <p:nvPr/>
        </p:nvGrpSpPr>
        <p:grpSpPr>
          <a:xfrm>
            <a:off x="3183936" y="3344504"/>
            <a:ext cx="2571750" cy="685800"/>
            <a:chOff x="3006068" y="3348633"/>
            <a:chExt cx="2571750" cy="685800"/>
          </a:xfrm>
        </p:grpSpPr>
        <p:sp>
          <p:nvSpPr>
            <p:cNvPr id="15" name="Shape 12"/>
            <p:cNvSpPr/>
            <p:nvPr/>
          </p:nvSpPr>
          <p:spPr>
            <a:xfrm>
              <a:off x="3006068" y="3348633"/>
              <a:ext cx="2571750" cy="685800"/>
            </a:xfrm>
            <a:prstGeom prst="rect">
              <a:avLst/>
            </a:prstGeom>
            <a:solidFill>
              <a:srgbClr val="FFFFFF">
                <a:alpha val="82000"/>
              </a:srgbClr>
            </a:solidFill>
            <a:ln w="9144">
              <a:solidFill>
                <a:srgbClr val="18181B"/>
              </a:solidFill>
              <a:prstDash val="solid"/>
            </a:ln>
          </p:spPr>
        </p:sp>
        <p:sp>
          <p:nvSpPr>
            <p:cNvPr id="16" name="Text 13"/>
            <p:cNvSpPr/>
            <p:nvPr/>
          </p:nvSpPr>
          <p:spPr>
            <a:xfrm>
              <a:off x="3182874" y="3450962"/>
              <a:ext cx="2218135" cy="480027"/>
            </a:xfrm>
            <a:prstGeom prst="rect">
              <a:avLst/>
            </a:prstGeom>
            <a:noFill/>
            <a:ln/>
          </p:spPr>
          <p:txBody>
            <a:bodyPr wrap="square" lIns="0" tIns="0" rIns="0" bIns="0" rtlCol="0" anchor="t">
              <a:spAutoFit/>
            </a:bodyPr>
            <a:lstStyle/>
            <a:p>
              <a:pPr marL="0" indent="0" algn="l">
                <a:lnSpc>
                  <a:spcPts val="1900"/>
                </a:lnSpc>
                <a:buNone/>
              </a:pPr>
              <a:r>
                <a:rPr lang="en-US" sz="1486" kern="0" spc="1" dirty="0">
                  <a:solidFill>
                    <a:srgbClr val="18181B"/>
                  </a:solidFill>
                  <a:latin typeface="IBM Plex Mono" pitchFamily="34" charset="0"/>
                  <a:ea typeface="IBM Plex Mono" pitchFamily="34" charset="-122"/>
                  <a:cs typeface="IBM Plex Mono" pitchFamily="34" charset="-120"/>
                </a:rPr>
                <a:t>//// /\/\\ //// // /\\/ ///</a:t>
              </a:r>
              <a:endParaRPr lang="en-US" sz="1486" dirty="0"/>
            </a:p>
          </p:txBody>
        </p:sp>
      </p:grpSp>
      <p:sp>
        <p:nvSpPr>
          <p:cNvPr id="17" name="Text 14"/>
          <p:cNvSpPr/>
          <p:nvPr/>
        </p:nvSpPr>
        <p:spPr>
          <a:xfrm>
            <a:off x="3183936" y="4081201"/>
            <a:ext cx="2571750" cy="370486"/>
          </a:xfrm>
          <a:prstGeom prst="rect">
            <a:avLst/>
          </a:prstGeom>
          <a:noFill/>
          <a:ln/>
        </p:spPr>
        <p:txBody>
          <a:bodyPr wrap="square" lIns="0" tIns="0" rIns="0" bIns="0" rtlCol="0" anchor="t">
            <a:spAutoFit/>
          </a:bodyPr>
          <a:lstStyle/>
          <a:p>
            <a:pPr marL="0" indent="0" algn="just">
              <a:lnSpc>
                <a:spcPts val="1500"/>
              </a:lnSpc>
              <a:buNone/>
            </a:pPr>
            <a:r>
              <a:rPr lang="en-US" sz="1000" dirty="0">
                <a:solidFill>
                  <a:srgbClr val="3F3F46"/>
                </a:solidFill>
                <a:latin typeface="Inter" pitchFamily="34" charset="0"/>
                <a:ea typeface="Inter" pitchFamily="34" charset="-122"/>
                <a:cs typeface="Inter" pitchFamily="34" charset="-120"/>
              </a:rPr>
              <a:t>Small rapid variations add sharpness, grain, and surface richness.</a:t>
            </a:r>
            <a:endParaRPr lang="en-US" sz="1000" dirty="0"/>
          </a:p>
        </p:txBody>
      </p:sp>
      <p:sp>
        <p:nvSpPr>
          <p:cNvPr id="18" name="Text 15"/>
          <p:cNvSpPr/>
          <p:nvPr/>
        </p:nvSpPr>
        <p:spPr>
          <a:xfrm>
            <a:off x="6312173" y="1085850"/>
            <a:ext cx="743793"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IN SOUND</a:t>
            </a:r>
            <a:endParaRPr lang="en-US" sz="1200" dirty="0"/>
          </a:p>
        </p:txBody>
      </p:sp>
      <p:sp>
        <p:nvSpPr>
          <p:cNvPr id="19" name="Text 16"/>
          <p:cNvSpPr/>
          <p:nvPr/>
        </p:nvSpPr>
        <p:spPr>
          <a:xfrm>
            <a:off x="6312173" y="1330523"/>
            <a:ext cx="2646034" cy="642938"/>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18181B"/>
                </a:solidFill>
                <a:latin typeface="Inter" pitchFamily="34" charset="0"/>
                <a:ea typeface="Inter" pitchFamily="34" charset="-122"/>
                <a:cs typeface="Inter" pitchFamily="34" charset="-120"/>
              </a:rPr>
              <a:t>Upper frequencies contribute brightness and crispness, but they may also include hiss or harshness.</a:t>
            </a:r>
            <a:endParaRPr lang="en-US" sz="1100" dirty="0"/>
          </a:p>
        </p:txBody>
      </p:sp>
      <p:sp>
        <p:nvSpPr>
          <p:cNvPr id="20" name="Text 17"/>
          <p:cNvSpPr/>
          <p:nvPr/>
        </p:nvSpPr>
        <p:spPr>
          <a:xfrm>
            <a:off x="6312173" y="2893219"/>
            <a:ext cx="836768"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IN IMAGES</a:t>
            </a:r>
            <a:endParaRPr lang="en-US" sz="1200" dirty="0"/>
          </a:p>
        </p:txBody>
      </p:sp>
      <p:sp>
        <p:nvSpPr>
          <p:cNvPr id="21" name="Text 18"/>
          <p:cNvSpPr/>
          <p:nvPr/>
        </p:nvSpPr>
        <p:spPr>
          <a:xfrm>
            <a:off x="6312173" y="3137892"/>
            <a:ext cx="2646034" cy="642938"/>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18181B"/>
                </a:solidFill>
                <a:latin typeface="Inter" pitchFamily="34" charset="0"/>
                <a:ea typeface="Inter" pitchFamily="34" charset="-122"/>
                <a:cs typeface="Inter" pitchFamily="34" charset="-120"/>
              </a:rPr>
              <a:t>Higher spatial frequencies often correspond to edges, texture, and fine details that make pictures look sharp.</a:t>
            </a:r>
            <a:endParaRPr lang="en-US" sz="1100" dirty="0"/>
          </a:p>
        </p:txBody>
      </p:sp>
      <p:sp>
        <p:nvSpPr>
          <p:cNvPr id="22" name="Shape 19"/>
          <p:cNvSpPr/>
          <p:nvPr/>
        </p:nvSpPr>
        <p:spPr>
          <a:xfrm>
            <a:off x="0" y="4514850"/>
            <a:ext cx="9144000" cy="628650"/>
          </a:xfrm>
          <a:prstGeom prst="rect">
            <a:avLst/>
          </a:prstGeom>
          <a:solidFill>
            <a:srgbClr val="000000">
              <a:alpha val="0"/>
            </a:srgbClr>
          </a:solidFill>
          <a:ln/>
        </p:spPr>
      </p:sp>
      <p:sp>
        <p:nvSpPr>
          <p:cNvPr id="23" name="Shape 20"/>
          <p:cNvSpPr/>
          <p:nvPr/>
        </p:nvSpPr>
        <p:spPr>
          <a:xfrm>
            <a:off x="0" y="4514850"/>
            <a:ext cx="9144000" cy="7144"/>
          </a:xfrm>
          <a:prstGeom prst="rect">
            <a:avLst/>
          </a:prstGeom>
          <a:solidFill>
            <a:srgbClr val="18181B"/>
          </a:solidFill>
          <a:ln/>
        </p:spPr>
      </p:sp>
      <p:sp>
        <p:nvSpPr>
          <p:cNvPr id="26" name="Text 2">
            <a:extLst>
              <a:ext uri="{FF2B5EF4-FFF2-40B4-BE49-F238E27FC236}">
                <a16:creationId xmlns:a16="http://schemas.microsoft.com/office/drawing/2014/main" id="{40123236-9B3A-A607-C0D9-71FD2600A947}"/>
              </a:ext>
            </a:extLst>
          </p:cNvPr>
          <p:cNvSpPr/>
          <p:nvPr/>
        </p:nvSpPr>
        <p:spPr>
          <a:xfrm>
            <a:off x="342899" y="141536"/>
            <a:ext cx="1012200"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DETAIL AND TEXTURE</a:t>
            </a:r>
            <a:endParaRPr lang="en-US" sz="727" dirty="0"/>
          </a:p>
        </p:txBody>
      </p:sp>
      <p:sp>
        <p:nvSpPr>
          <p:cNvPr id="27" name="Text 3">
            <a:extLst>
              <a:ext uri="{FF2B5EF4-FFF2-40B4-BE49-F238E27FC236}">
                <a16:creationId xmlns:a16="http://schemas.microsoft.com/office/drawing/2014/main" id="{B4A2663E-3183-C497-4E35-6E30B46853F0}"/>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High frequencies often carry sharp detail, texture, and noise</a:t>
            </a:r>
            <a:endParaRPr lang="en-US" sz="1602" dirty="0"/>
          </a:p>
        </p:txBody>
      </p:sp>
      <p:sp>
        <p:nvSpPr>
          <p:cNvPr id="28" name="Text 23">
            <a:extLst>
              <a:ext uri="{FF2B5EF4-FFF2-40B4-BE49-F238E27FC236}">
                <a16:creationId xmlns:a16="http://schemas.microsoft.com/office/drawing/2014/main" id="{AFF97876-2831-57BF-7444-25E5227E0C66}"/>
              </a:ext>
            </a:extLst>
          </p:cNvPr>
          <p:cNvSpPr/>
          <p:nvPr/>
        </p:nvSpPr>
        <p:spPr>
          <a:xfrm>
            <a:off x="151604" y="4738156"/>
            <a:ext cx="8650701"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Intuition: </a:t>
            </a:r>
            <a:r>
              <a:rPr lang="en-US" sz="1400" dirty="0">
                <a:solidFill>
                  <a:srgbClr val="3F3F46"/>
                </a:solidFill>
                <a:latin typeface="Inter" pitchFamily="34" charset="0"/>
                <a:ea typeface="Inter" pitchFamily="34" charset="-122"/>
                <a:cs typeface="Inter" pitchFamily="34" charset="-120"/>
              </a:rPr>
              <a:t>High frequencies are often the place where realism becomes vivid—but also where noise becomes visible.</a:t>
            </a:r>
            <a:endParaRPr lang="en-US" sz="1400" dirty="0"/>
          </a:p>
        </p:txBody>
      </p:sp>
      <p:cxnSp>
        <p:nvCxnSpPr>
          <p:cNvPr id="29" name="Straight Connector 28">
            <a:extLst>
              <a:ext uri="{FF2B5EF4-FFF2-40B4-BE49-F238E27FC236}">
                <a16:creationId xmlns:a16="http://schemas.microsoft.com/office/drawing/2014/main" id="{030BF03F-D9B8-40FA-06CD-892D2F4E3574}"/>
              </a:ext>
            </a:extLst>
          </p:cNvPr>
          <p:cNvCxnSpPr>
            <a:cxnSpLocks/>
          </p:cNvCxnSpPr>
          <p:nvPr/>
        </p:nvCxnSpPr>
        <p:spPr>
          <a:xfrm>
            <a:off x="2834618" y="1363226"/>
            <a:ext cx="3284674" cy="0"/>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828153" y="1289422"/>
            <a:ext cx="1022716" cy="146066"/>
          </a:xfrm>
          <a:prstGeom prst="rect">
            <a:avLst/>
          </a:prstGeom>
          <a:noFill/>
          <a:ln/>
        </p:spPr>
        <p:txBody>
          <a:bodyPr wrap="none" lIns="0" tIns="0" rIns="0" bIns="0" rtlCol="0" anchor="t">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FULL DETAIL</a:t>
            </a:r>
            <a:endParaRPr lang="en-US" sz="1200" dirty="0"/>
          </a:p>
        </p:txBody>
      </p:sp>
      <p:sp>
        <p:nvSpPr>
          <p:cNvPr id="8" name="Shape 5"/>
          <p:cNvSpPr/>
          <p:nvPr/>
        </p:nvSpPr>
        <p:spPr>
          <a:xfrm>
            <a:off x="440513" y="1534037"/>
            <a:ext cx="1785938" cy="1071563"/>
          </a:xfrm>
          <a:prstGeom prst="rect">
            <a:avLst/>
          </a:prstGeom>
          <a:noFill/>
          <a:ln w="9144">
            <a:solidFill>
              <a:srgbClr val="18181B"/>
            </a:solidFill>
            <a:prstDash val="solid"/>
          </a:ln>
        </p:spPr>
      </p:sp>
      <p:sp>
        <p:nvSpPr>
          <p:cNvPr id="9" name="Text 6"/>
          <p:cNvSpPr/>
          <p:nvPr/>
        </p:nvSpPr>
        <p:spPr>
          <a:xfrm>
            <a:off x="2666964" y="1981278"/>
            <a:ext cx="571500" cy="205184"/>
          </a:xfrm>
          <a:prstGeom prst="rect">
            <a:avLst/>
          </a:prstGeom>
          <a:noFill/>
          <a:ln/>
        </p:spPr>
        <p:txBody>
          <a:bodyPr wrap="square" lIns="0" tIns="0" rIns="0" bIns="0" rtlCol="0" anchor="ctr">
            <a:spAutoFit/>
          </a:bodyPr>
          <a:lstStyle/>
          <a:p>
            <a:pPr marL="0" indent="0" algn="ctr">
              <a:lnSpc>
                <a:spcPts val="1600"/>
              </a:lnSpc>
              <a:buNone/>
            </a:pPr>
            <a:r>
              <a:rPr lang="en-US" sz="1500" dirty="0">
                <a:solidFill>
                  <a:srgbClr val="18181B"/>
                </a:solidFill>
                <a:latin typeface="IBM Plex Mono" pitchFamily="34" charset="0"/>
                <a:ea typeface="IBM Plex Mono" pitchFamily="34" charset="-122"/>
                <a:cs typeface="IBM Plex Mono" pitchFamily="34" charset="-120"/>
              </a:rPr>
              <a:t>→</a:t>
            </a:r>
            <a:endParaRPr lang="en-US" sz="1500" dirty="0"/>
          </a:p>
        </p:txBody>
      </p:sp>
      <p:sp>
        <p:nvSpPr>
          <p:cNvPr id="10" name="Text 7"/>
          <p:cNvSpPr/>
          <p:nvPr/>
        </p:nvSpPr>
        <p:spPr>
          <a:xfrm>
            <a:off x="3874664" y="1290844"/>
            <a:ext cx="1394613" cy="146066"/>
          </a:xfrm>
          <a:prstGeom prst="rect">
            <a:avLst/>
          </a:prstGeom>
          <a:noFill/>
          <a:ln/>
        </p:spPr>
        <p:txBody>
          <a:bodyPr wrap="none" lIns="0" tIns="0" rIns="0" bIns="0" rtlCol="0" anchor="t">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COMPRESSED FORM</a:t>
            </a:r>
            <a:endParaRPr lang="en-US" sz="1200" dirty="0"/>
          </a:p>
        </p:txBody>
      </p:sp>
      <p:sp>
        <p:nvSpPr>
          <p:cNvPr id="11" name="Shape 8"/>
          <p:cNvSpPr/>
          <p:nvPr/>
        </p:nvSpPr>
        <p:spPr>
          <a:xfrm>
            <a:off x="3679003" y="1534037"/>
            <a:ext cx="1785938" cy="1071563"/>
          </a:xfrm>
          <a:prstGeom prst="rect">
            <a:avLst/>
          </a:prstGeom>
          <a:noFill/>
          <a:ln w="9144">
            <a:solidFill>
              <a:srgbClr val="18181B"/>
            </a:solidFill>
            <a:prstDash val="solid"/>
          </a:ln>
        </p:spPr>
      </p:sp>
      <p:sp>
        <p:nvSpPr>
          <p:cNvPr id="12" name="Text 9"/>
          <p:cNvSpPr/>
          <p:nvPr/>
        </p:nvSpPr>
        <p:spPr>
          <a:xfrm>
            <a:off x="5905482" y="1982633"/>
            <a:ext cx="571500" cy="205184"/>
          </a:xfrm>
          <a:prstGeom prst="rect">
            <a:avLst/>
          </a:prstGeom>
          <a:noFill/>
          <a:ln/>
        </p:spPr>
        <p:txBody>
          <a:bodyPr wrap="square" lIns="0" tIns="0" rIns="0" bIns="0" rtlCol="0" anchor="ctr">
            <a:spAutoFit/>
          </a:bodyPr>
          <a:lstStyle/>
          <a:p>
            <a:pPr marL="0" indent="0" algn="ctr">
              <a:lnSpc>
                <a:spcPts val="1600"/>
              </a:lnSpc>
              <a:buNone/>
            </a:pPr>
            <a:r>
              <a:rPr lang="en-US" sz="1500" dirty="0">
                <a:solidFill>
                  <a:srgbClr val="18181B"/>
                </a:solidFill>
                <a:latin typeface="IBM Plex Mono" pitchFamily="34" charset="0"/>
                <a:ea typeface="IBM Plex Mono" pitchFamily="34" charset="-122"/>
                <a:cs typeface="IBM Plex Mono" pitchFamily="34" charset="-120"/>
              </a:rPr>
              <a:t>→</a:t>
            </a:r>
            <a:endParaRPr lang="en-US" sz="1500" dirty="0"/>
          </a:p>
        </p:txBody>
      </p:sp>
      <p:sp>
        <p:nvSpPr>
          <p:cNvPr id="13" name="Text 10"/>
          <p:cNvSpPr/>
          <p:nvPr/>
        </p:nvSpPr>
        <p:spPr>
          <a:xfrm>
            <a:off x="6880749" y="1293962"/>
            <a:ext cx="1859483"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PERCEPTUALLY SIMILAR</a:t>
            </a:r>
            <a:endParaRPr lang="en-US" sz="1200" dirty="0"/>
          </a:p>
        </p:txBody>
      </p:sp>
      <p:sp>
        <p:nvSpPr>
          <p:cNvPr id="14" name="Shape 11"/>
          <p:cNvSpPr/>
          <p:nvPr/>
        </p:nvSpPr>
        <p:spPr>
          <a:xfrm>
            <a:off x="6917522" y="1534037"/>
            <a:ext cx="1785938" cy="1071563"/>
          </a:xfrm>
          <a:prstGeom prst="rect">
            <a:avLst/>
          </a:prstGeom>
          <a:solidFill>
            <a:srgbClr val="FFFFFF">
              <a:alpha val="82000"/>
            </a:srgbClr>
          </a:solidFill>
          <a:ln w="9144">
            <a:solidFill>
              <a:srgbClr val="18181B"/>
            </a:solidFill>
            <a:prstDash val="solid"/>
          </a:ln>
        </p:spPr>
      </p:sp>
      <p:sp>
        <p:nvSpPr>
          <p:cNvPr id="15" name="Text 12"/>
          <p:cNvSpPr/>
          <p:nvPr/>
        </p:nvSpPr>
        <p:spPr>
          <a:xfrm>
            <a:off x="6917522" y="1693838"/>
            <a:ext cx="1785938" cy="780064"/>
          </a:xfrm>
          <a:prstGeom prst="rect">
            <a:avLst/>
          </a:prstGeom>
          <a:noFill/>
          <a:ln/>
        </p:spPr>
        <p:txBody>
          <a:bodyPr wrap="square" lIns="0" tIns="0" rIns="0" bIns="0" rtlCol="0" anchor="t">
            <a:spAutoFit/>
          </a:bodyPr>
          <a:lstStyle/>
          <a:p>
            <a:pPr marL="0" indent="0" algn="ctr">
              <a:lnSpc>
                <a:spcPts val="2000"/>
              </a:lnSpc>
              <a:buNone/>
            </a:pPr>
            <a:r>
              <a:rPr lang="en-US" sz="1377" dirty="0">
                <a:solidFill>
                  <a:srgbClr val="3F3F46"/>
                </a:solidFill>
                <a:latin typeface="IBM Plex Mono" pitchFamily="34" charset="0"/>
                <a:ea typeface="IBM Plex Mono" pitchFamily="34" charset="-122"/>
                <a:cs typeface="IBM Plex Mono" pitchFamily="34" charset="-120"/>
              </a:rPr>
              <a:t>smaller file
similar experience</a:t>
            </a:r>
            <a:endParaRPr lang="en-US" sz="1377" dirty="0"/>
          </a:p>
        </p:txBody>
      </p:sp>
      <p:sp>
        <p:nvSpPr>
          <p:cNvPr id="16" name="Text 13"/>
          <p:cNvSpPr/>
          <p:nvPr/>
        </p:nvSpPr>
        <p:spPr>
          <a:xfrm>
            <a:off x="171450" y="3153798"/>
            <a:ext cx="1115690"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WHY IT WORKS</a:t>
            </a:r>
            <a:endParaRPr lang="en-US" sz="1200" dirty="0"/>
          </a:p>
        </p:txBody>
      </p:sp>
      <p:sp>
        <p:nvSpPr>
          <p:cNvPr id="17" name="Text 14"/>
          <p:cNvSpPr/>
          <p:nvPr/>
        </p:nvSpPr>
        <p:spPr>
          <a:xfrm>
            <a:off x="171450" y="3375254"/>
            <a:ext cx="2941774" cy="601511"/>
          </a:xfrm>
          <a:prstGeom prst="rect">
            <a:avLst/>
          </a:prstGeom>
          <a:noFill/>
          <a:ln/>
        </p:spPr>
        <p:txBody>
          <a:bodyPr wrap="square" lIns="0" tIns="0" rIns="0"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Human hearing and vision do not treat every tiny detail as equally important. Compression exploits that fact.</a:t>
            </a:r>
            <a:endParaRPr lang="en-US" sz="1100" dirty="0"/>
          </a:p>
        </p:txBody>
      </p:sp>
      <p:sp>
        <p:nvSpPr>
          <p:cNvPr id="18" name="Text 15"/>
          <p:cNvSpPr/>
          <p:nvPr/>
        </p:nvSpPr>
        <p:spPr>
          <a:xfrm>
            <a:off x="3463268" y="3153798"/>
            <a:ext cx="1952458"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WHAT IS OFTEN REDUCED</a:t>
            </a:r>
            <a:endParaRPr lang="en-US" sz="1200" dirty="0"/>
          </a:p>
        </p:txBody>
      </p:sp>
      <p:sp>
        <p:nvSpPr>
          <p:cNvPr id="19" name="Text 16"/>
          <p:cNvSpPr/>
          <p:nvPr/>
        </p:nvSpPr>
        <p:spPr>
          <a:xfrm>
            <a:off x="3463268" y="3375254"/>
            <a:ext cx="2576020" cy="601511"/>
          </a:xfrm>
          <a:prstGeom prst="rect">
            <a:avLst/>
          </a:prstGeom>
          <a:noFill/>
          <a:ln/>
        </p:spPr>
        <p:txBody>
          <a:bodyPr wrap="square" lIns="0" tIns="0" rIns="0"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Some less noticeable detail, often including parts of high-frequency content, can be removed or represented more coarsely.</a:t>
            </a:r>
            <a:endParaRPr lang="en-US" sz="1100" dirty="0"/>
          </a:p>
        </p:txBody>
      </p:sp>
      <p:sp>
        <p:nvSpPr>
          <p:cNvPr id="20" name="Text 17"/>
          <p:cNvSpPr/>
          <p:nvPr/>
        </p:nvSpPr>
        <p:spPr>
          <a:xfrm>
            <a:off x="6389331" y="3153798"/>
            <a:ext cx="1115690" cy="146066"/>
          </a:xfrm>
          <a:prstGeom prst="rect">
            <a:avLst/>
          </a:prstGeom>
          <a:noFill/>
          <a:ln/>
        </p:spPr>
        <p:txBody>
          <a:bodyPr wrap="none" lIns="0" tIns="0" rIns="0" bIns="0" rtlCol="0" anchor="t">
            <a:spAutoFit/>
          </a:bodyPr>
          <a:lstStyle/>
          <a:p>
            <a:pPr marL="0" indent="0" algn="l">
              <a:lnSpc>
                <a:spcPts val="1100"/>
              </a:lnSpc>
              <a:buNone/>
            </a:pPr>
            <a:r>
              <a:rPr lang="en-US" sz="1200" dirty="0">
                <a:solidFill>
                  <a:srgbClr val="0284C7"/>
                </a:solidFill>
                <a:latin typeface="IBM Plex Mono" pitchFamily="34" charset="0"/>
                <a:ea typeface="IBM Plex Mono" pitchFamily="34" charset="-122"/>
                <a:cs typeface="IBM Plex Mono" pitchFamily="34" charset="-120"/>
              </a:rPr>
              <a:t>THE TRADEOFF</a:t>
            </a:r>
            <a:endParaRPr lang="en-US" sz="1200" dirty="0"/>
          </a:p>
        </p:txBody>
      </p:sp>
      <p:sp>
        <p:nvSpPr>
          <p:cNvPr id="21" name="Text 18"/>
          <p:cNvSpPr/>
          <p:nvPr/>
        </p:nvSpPr>
        <p:spPr>
          <a:xfrm>
            <a:off x="6389331" y="3375254"/>
            <a:ext cx="2583163" cy="622929"/>
          </a:xfrm>
          <a:prstGeom prst="rect">
            <a:avLst/>
          </a:prstGeom>
          <a:noFill/>
          <a:ln/>
        </p:spPr>
        <p:txBody>
          <a:bodyPr wrap="square" lIns="0" tIns="0" rIns="0" bIns="0" rtlCol="0" anchor="t">
            <a:spAutoFit/>
          </a:bodyPr>
          <a:lstStyle/>
          <a:p>
            <a:pPr marL="0" indent="0" algn="just">
              <a:lnSpc>
                <a:spcPts val="1600"/>
              </a:lnSpc>
              <a:buNone/>
            </a:pPr>
            <a:r>
              <a:rPr lang="en-US" sz="1100" dirty="0">
                <a:solidFill>
                  <a:srgbClr val="3F3F46"/>
                </a:solidFill>
                <a:latin typeface="Inter" pitchFamily="34" charset="0"/>
                <a:ea typeface="Inter" pitchFamily="34" charset="-122"/>
                <a:cs typeface="Inter" pitchFamily="34" charset="-120"/>
              </a:rPr>
              <a:t>You gain storage and transmission efficiency, but the result is no longer perfectly identical to the original.</a:t>
            </a:r>
            <a:endParaRPr lang="en-US" sz="1100" dirty="0"/>
          </a:p>
        </p:txBody>
      </p:sp>
      <p:sp>
        <p:nvSpPr>
          <p:cNvPr id="22" name="Shape 19"/>
          <p:cNvSpPr/>
          <p:nvPr/>
        </p:nvSpPr>
        <p:spPr>
          <a:xfrm>
            <a:off x="0" y="4514850"/>
            <a:ext cx="9144000" cy="628650"/>
          </a:xfrm>
          <a:prstGeom prst="rect">
            <a:avLst/>
          </a:prstGeom>
          <a:solidFill>
            <a:srgbClr val="000000">
              <a:alpha val="0"/>
            </a:srgbClr>
          </a:solidFill>
          <a:ln/>
        </p:spPr>
      </p:sp>
      <p:sp>
        <p:nvSpPr>
          <p:cNvPr id="23" name="Shape 20"/>
          <p:cNvSpPr/>
          <p:nvPr/>
        </p:nvSpPr>
        <p:spPr>
          <a:xfrm>
            <a:off x="0" y="4514850"/>
            <a:ext cx="9144000" cy="7144"/>
          </a:xfrm>
          <a:prstGeom prst="rect">
            <a:avLst/>
          </a:prstGeom>
          <a:solidFill>
            <a:srgbClr val="18181B"/>
          </a:solidFill>
          <a:ln/>
        </p:spPr>
      </p:sp>
      <p:sp>
        <p:nvSpPr>
          <p:cNvPr id="26" name="Text 2">
            <a:extLst>
              <a:ext uri="{FF2B5EF4-FFF2-40B4-BE49-F238E27FC236}">
                <a16:creationId xmlns:a16="http://schemas.microsoft.com/office/drawing/2014/main" id="{153EFBAF-7228-B412-CFAA-34D8B91E9107}"/>
              </a:ext>
            </a:extLst>
          </p:cNvPr>
          <p:cNvSpPr/>
          <p:nvPr/>
        </p:nvSpPr>
        <p:spPr>
          <a:xfrm>
            <a:off x="342899" y="141536"/>
            <a:ext cx="618567"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COMPRESSION</a:t>
            </a:r>
            <a:endParaRPr lang="en-US" sz="727" dirty="0"/>
          </a:p>
        </p:txBody>
      </p:sp>
      <p:sp>
        <p:nvSpPr>
          <p:cNvPr id="27" name="Text 3">
            <a:extLst>
              <a:ext uri="{FF2B5EF4-FFF2-40B4-BE49-F238E27FC236}">
                <a16:creationId xmlns:a16="http://schemas.microsoft.com/office/drawing/2014/main" id="{D16C34C5-922F-A26B-ED5E-065585B1DC3A}"/>
              </a:ext>
            </a:extLst>
          </p:cNvPr>
          <p:cNvSpPr/>
          <p:nvPr/>
        </p:nvSpPr>
        <p:spPr>
          <a:xfrm>
            <a:off x="342899" y="266049"/>
            <a:ext cx="5532109"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Compression removes some detail because perception is selective</a:t>
            </a:r>
            <a:endParaRPr lang="en-US" sz="1602" dirty="0"/>
          </a:p>
        </p:txBody>
      </p:sp>
      <p:sp>
        <p:nvSpPr>
          <p:cNvPr id="28" name="Text 23">
            <a:extLst>
              <a:ext uri="{FF2B5EF4-FFF2-40B4-BE49-F238E27FC236}">
                <a16:creationId xmlns:a16="http://schemas.microsoft.com/office/drawing/2014/main" id="{5DD9DF88-4CEE-1F66-29B6-9766F93E4171}"/>
              </a:ext>
            </a:extLst>
          </p:cNvPr>
          <p:cNvSpPr/>
          <p:nvPr/>
        </p:nvSpPr>
        <p:spPr>
          <a:xfrm>
            <a:off x="1090634" y="4741728"/>
            <a:ext cx="6962675"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Compression is a choice:</a:t>
            </a:r>
            <a:r>
              <a:rPr lang="en-US" sz="1400" dirty="0"/>
              <a:t>	</a:t>
            </a:r>
            <a:r>
              <a:rPr lang="en-US" sz="1400" b="1" dirty="0">
                <a:solidFill>
                  <a:srgbClr val="18181B"/>
                </a:solidFill>
                <a:latin typeface="Inter" pitchFamily="34" charset="0"/>
                <a:ea typeface="Inter" pitchFamily="34" charset="-122"/>
              </a:rPr>
              <a:t> </a:t>
            </a:r>
            <a:r>
              <a:rPr lang="en-US" sz="1400" dirty="0">
                <a:solidFill>
                  <a:srgbClr val="3F3F46"/>
                </a:solidFill>
                <a:latin typeface="Inter" pitchFamily="34" charset="0"/>
                <a:ea typeface="Inter" pitchFamily="34" charset="-122"/>
                <a:cs typeface="Inter" pitchFamily="34" charset="-120"/>
              </a:rPr>
              <a:t>Keep what people notice most, spend fewer bits on what matters less.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00113"/>
          </a:xfrm>
          <a:prstGeom prst="rect">
            <a:avLst/>
          </a:prstGeom>
          <a:solidFill>
            <a:srgbClr val="000000">
              <a:alpha val="0"/>
            </a:srgbClr>
          </a:solidFill>
          <a:ln/>
        </p:spPr>
      </p:sp>
      <p:sp>
        <p:nvSpPr>
          <p:cNvPr id="4" name="Shape 1"/>
          <p:cNvSpPr/>
          <p:nvPr/>
        </p:nvSpPr>
        <p:spPr>
          <a:xfrm>
            <a:off x="0" y="892969"/>
            <a:ext cx="9144000" cy="7144"/>
          </a:xfrm>
          <a:prstGeom prst="rect">
            <a:avLst/>
          </a:prstGeom>
          <a:solidFill>
            <a:srgbClr val="18181B"/>
          </a:solidFill>
          <a:ln/>
        </p:spPr>
      </p:sp>
      <p:sp>
        <p:nvSpPr>
          <p:cNvPr id="7" name="Text 4"/>
          <p:cNvSpPr/>
          <p:nvPr/>
        </p:nvSpPr>
        <p:spPr>
          <a:xfrm>
            <a:off x="285750" y="1171575"/>
            <a:ext cx="2601748" cy="574346"/>
          </a:xfrm>
          <a:prstGeom prst="rect">
            <a:avLst/>
          </a:prstGeom>
          <a:noFill/>
          <a:ln/>
        </p:spPr>
        <p:txBody>
          <a:bodyPr wrap="square" lIns="0" tIns="0" rIns="0" bIns="0" rtlCol="0" anchor="t">
            <a:spAutoFit/>
          </a:bodyPr>
          <a:lstStyle/>
          <a:p>
            <a:pPr marL="0" indent="0" algn="just">
              <a:lnSpc>
                <a:spcPts val="2300"/>
              </a:lnSpc>
              <a:buNone/>
            </a:pPr>
            <a:r>
              <a:rPr lang="en-US" sz="1600" dirty="0">
                <a:solidFill>
                  <a:srgbClr val="18181B"/>
                </a:solidFill>
                <a:latin typeface="Inter" pitchFamily="34" charset="0"/>
                <a:ea typeface="Inter" pitchFamily="34" charset="-122"/>
                <a:cs typeface="Inter" pitchFamily="34" charset="-120"/>
              </a:rPr>
              <a:t>It is </a:t>
            </a:r>
            <a:r>
              <a:rPr lang="en-US" sz="1600" b="1" dirty="0">
                <a:solidFill>
                  <a:srgbClr val="EA580C"/>
                </a:solidFill>
                <a:latin typeface="Inter" pitchFamily="34" charset="0"/>
                <a:ea typeface="Inter" pitchFamily="34" charset="-122"/>
                <a:cs typeface="Inter" pitchFamily="34" charset="-120"/>
              </a:rPr>
              <a:t>not</a:t>
            </a:r>
            <a:r>
              <a:rPr lang="en-US" sz="1600" dirty="0">
                <a:solidFill>
                  <a:srgbClr val="18181B"/>
                </a:solidFill>
                <a:latin typeface="Inter" pitchFamily="34" charset="0"/>
                <a:ea typeface="Inter" pitchFamily="34" charset="-122"/>
                <a:cs typeface="Inter" pitchFamily="34" charset="-120"/>
              </a:rPr>
              <a:t> always correct to remove high frequencies.</a:t>
            </a:r>
            <a:endParaRPr lang="en-US" sz="1600" dirty="0"/>
          </a:p>
        </p:txBody>
      </p:sp>
      <p:sp>
        <p:nvSpPr>
          <p:cNvPr id="8" name="Text 5"/>
          <p:cNvSpPr/>
          <p:nvPr/>
        </p:nvSpPr>
        <p:spPr>
          <a:xfrm>
            <a:off x="285750" y="1965655"/>
            <a:ext cx="2601748" cy="1072794"/>
          </a:xfrm>
          <a:prstGeom prst="rect">
            <a:avLst/>
          </a:prstGeom>
          <a:noFill/>
          <a:ln/>
        </p:spPr>
        <p:txBody>
          <a:bodyPr wrap="square" lIns="0" tIns="0" rIns="0" bIns="0" rtlCol="0" anchor="t">
            <a:spAutoFit/>
          </a:bodyPr>
          <a:lstStyle/>
          <a:p>
            <a:pPr marL="0" indent="0" algn="just">
              <a:lnSpc>
                <a:spcPts val="1700"/>
              </a:lnSpc>
              <a:buNone/>
            </a:pPr>
            <a:r>
              <a:rPr lang="en-US" sz="1100" dirty="0">
                <a:solidFill>
                  <a:srgbClr val="3F3F46"/>
                </a:solidFill>
                <a:latin typeface="Inter" pitchFamily="34" charset="0"/>
                <a:ea typeface="Inter" pitchFamily="34" charset="-122"/>
                <a:cs typeface="Inter" pitchFamily="34" charset="-120"/>
              </a:rPr>
              <a:t>Frequency-domain thinking is useful precisely because it helps us decide what to preserve, what to suppress, and why. The answer depends on the goal: realism, clarity, diagnosis, storage, or measurement.</a:t>
            </a:r>
            <a:endParaRPr lang="en-US" sz="1100" dirty="0"/>
          </a:p>
        </p:txBody>
      </p:sp>
      <p:sp>
        <p:nvSpPr>
          <p:cNvPr id="9" name="Text 6"/>
          <p:cNvSpPr/>
          <p:nvPr/>
        </p:nvSpPr>
        <p:spPr>
          <a:xfrm>
            <a:off x="3108954" y="1425955"/>
            <a:ext cx="1327677" cy="146066"/>
          </a:xfrm>
          <a:prstGeom prst="rect">
            <a:avLst/>
          </a:prstGeom>
          <a:noFill/>
          <a:ln/>
        </p:spPr>
        <p:txBody>
          <a:bodyPr wrap="square" lIns="85090" tIns="0" rIns="8509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AUDIO</a:t>
            </a:r>
            <a:endParaRPr lang="en-US" sz="1200" dirty="0"/>
          </a:p>
        </p:txBody>
      </p:sp>
      <p:sp>
        <p:nvSpPr>
          <p:cNvPr id="11" name="Text 8"/>
          <p:cNvSpPr/>
          <p:nvPr/>
        </p:nvSpPr>
        <p:spPr>
          <a:xfrm>
            <a:off x="3108954" y="2630862"/>
            <a:ext cx="1327677" cy="146066"/>
          </a:xfrm>
          <a:prstGeom prst="rect">
            <a:avLst/>
          </a:prstGeom>
          <a:noFill/>
          <a:ln/>
        </p:spPr>
        <p:txBody>
          <a:bodyPr wrap="square" lIns="85090" tIns="0" rIns="8509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IMAGES</a:t>
            </a:r>
            <a:endParaRPr lang="en-US" sz="1200" dirty="0"/>
          </a:p>
        </p:txBody>
      </p:sp>
      <p:sp>
        <p:nvSpPr>
          <p:cNvPr id="13" name="Text 10"/>
          <p:cNvSpPr/>
          <p:nvPr/>
        </p:nvSpPr>
        <p:spPr>
          <a:xfrm>
            <a:off x="3108954" y="3698292"/>
            <a:ext cx="1327677" cy="428194"/>
          </a:xfrm>
          <a:prstGeom prst="rect">
            <a:avLst/>
          </a:prstGeom>
          <a:noFill/>
          <a:ln/>
        </p:spPr>
        <p:txBody>
          <a:bodyPr wrap="square" lIns="85090" tIns="0" rIns="85090" bIns="0" rtlCol="0" anchor="ctr">
            <a:spAutoFit/>
          </a:bodyPr>
          <a:lstStyle/>
          <a:p>
            <a:pPr marL="0" indent="0" algn="ctr">
              <a:lnSpc>
                <a:spcPts val="1100"/>
              </a:lnSpc>
              <a:buNone/>
            </a:pPr>
            <a:r>
              <a:rPr lang="en-US" sz="1200" dirty="0">
                <a:solidFill>
                  <a:srgbClr val="0284C7"/>
                </a:solidFill>
                <a:latin typeface="IBM Plex Mono" pitchFamily="34" charset="0"/>
                <a:ea typeface="IBM Plex Mono" pitchFamily="34" charset="-122"/>
                <a:cs typeface="IBM Plex Mono" pitchFamily="34" charset="-120"/>
              </a:rPr>
              <a:t>MEDICAL &amp; SCIENTIFIC DATA</a:t>
            </a:r>
            <a:endParaRPr lang="en-US" sz="1200" dirty="0"/>
          </a:p>
        </p:txBody>
      </p:sp>
      <p:sp>
        <p:nvSpPr>
          <p:cNvPr id="15" name="Shape 12"/>
          <p:cNvSpPr/>
          <p:nvPr/>
        </p:nvSpPr>
        <p:spPr>
          <a:xfrm>
            <a:off x="0" y="4514850"/>
            <a:ext cx="9144000" cy="628650"/>
          </a:xfrm>
          <a:prstGeom prst="rect">
            <a:avLst/>
          </a:prstGeom>
          <a:solidFill>
            <a:srgbClr val="000000">
              <a:alpha val="0"/>
            </a:srgbClr>
          </a:solidFill>
          <a:ln/>
        </p:spPr>
      </p:sp>
      <p:sp>
        <p:nvSpPr>
          <p:cNvPr id="16" name="Shape 13"/>
          <p:cNvSpPr/>
          <p:nvPr/>
        </p:nvSpPr>
        <p:spPr>
          <a:xfrm>
            <a:off x="0" y="4514850"/>
            <a:ext cx="9144000" cy="7144"/>
          </a:xfrm>
          <a:prstGeom prst="rect">
            <a:avLst/>
          </a:prstGeom>
          <a:solidFill>
            <a:srgbClr val="18181B"/>
          </a:solidFill>
          <a:ln/>
        </p:spPr>
      </p:sp>
      <p:sp>
        <p:nvSpPr>
          <p:cNvPr id="19" name="Text 2">
            <a:extLst>
              <a:ext uri="{FF2B5EF4-FFF2-40B4-BE49-F238E27FC236}">
                <a16:creationId xmlns:a16="http://schemas.microsoft.com/office/drawing/2014/main" id="{8FEDB130-15BF-2AE9-F3C1-0D7D6D2E673C}"/>
              </a:ext>
            </a:extLst>
          </p:cNvPr>
          <p:cNvSpPr/>
          <p:nvPr/>
        </p:nvSpPr>
        <p:spPr>
          <a:xfrm>
            <a:off x="342899" y="141536"/>
            <a:ext cx="1124667"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0284C7"/>
                </a:solidFill>
                <a:latin typeface="IBM Plex Mono" pitchFamily="34" charset="0"/>
                <a:ea typeface="IBM Plex Mono" pitchFamily="34" charset="-122"/>
                <a:cs typeface="IBM Plex Mono" pitchFamily="34" charset="-120"/>
              </a:rPr>
              <a:t>IMPORTANT CORRECTION</a:t>
            </a:r>
            <a:endParaRPr lang="en-US" sz="727" dirty="0"/>
          </a:p>
        </p:txBody>
      </p:sp>
      <p:sp>
        <p:nvSpPr>
          <p:cNvPr id="20" name="Text 3">
            <a:extLst>
              <a:ext uri="{FF2B5EF4-FFF2-40B4-BE49-F238E27FC236}">
                <a16:creationId xmlns:a16="http://schemas.microsoft.com/office/drawing/2014/main" id="{78E3FF85-101B-36C4-3373-F896AD653507}"/>
              </a:ext>
            </a:extLst>
          </p:cNvPr>
          <p:cNvSpPr/>
          <p:nvPr/>
        </p:nvSpPr>
        <p:spPr>
          <a:xfrm>
            <a:off x="342899" y="266049"/>
            <a:ext cx="5532109" cy="547522"/>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BM Plex Mono" pitchFamily="34" charset="0"/>
                <a:ea typeface="IBM Plex Mono" pitchFamily="34" charset="-122"/>
                <a:cs typeface="IBM Plex Mono" pitchFamily="34" charset="-120"/>
              </a:rPr>
              <a:t>The right choice depends on the application, not on a fixed rule</a:t>
            </a:r>
            <a:endParaRPr lang="en-US" sz="1602" dirty="0"/>
          </a:p>
        </p:txBody>
      </p:sp>
      <p:sp>
        <p:nvSpPr>
          <p:cNvPr id="21" name="Text 23">
            <a:extLst>
              <a:ext uri="{FF2B5EF4-FFF2-40B4-BE49-F238E27FC236}">
                <a16:creationId xmlns:a16="http://schemas.microsoft.com/office/drawing/2014/main" id="{0AC00170-0286-EF2B-7D12-7C6A1E6651B9}"/>
              </a:ext>
            </a:extLst>
          </p:cNvPr>
          <p:cNvSpPr/>
          <p:nvPr/>
        </p:nvSpPr>
        <p:spPr>
          <a:xfrm>
            <a:off x="1264127" y="4741728"/>
            <a:ext cx="6345007" cy="182038"/>
          </a:xfrm>
          <a:prstGeom prst="rect">
            <a:avLst/>
          </a:prstGeom>
          <a:noFill/>
          <a:ln/>
        </p:spPr>
        <p:txBody>
          <a:bodyPr wrap="none" lIns="0" tIns="0" rIns="0" bIns="0" rtlCol="0" anchor="t">
            <a:spAutoFit/>
          </a:bodyPr>
          <a:lstStyle/>
          <a:p>
            <a:pPr algn="ctr">
              <a:lnSpc>
                <a:spcPts val="1400"/>
              </a:lnSpc>
            </a:pPr>
            <a:r>
              <a:rPr lang="en-US" sz="1400" b="1" dirty="0">
                <a:solidFill>
                  <a:srgbClr val="18181B"/>
                </a:solidFill>
                <a:latin typeface="Inter" pitchFamily="34" charset="0"/>
                <a:ea typeface="Inter" pitchFamily="34" charset="-122"/>
                <a:cs typeface="Inter" pitchFamily="34" charset="-120"/>
              </a:rPr>
              <a:t>Principle: </a:t>
            </a:r>
            <a:r>
              <a:rPr lang="en-US" sz="1400" dirty="0">
                <a:solidFill>
                  <a:srgbClr val="3F3F46"/>
                </a:solidFill>
                <a:latin typeface="Inter" pitchFamily="34" charset="0"/>
                <a:ea typeface="Inter" pitchFamily="34" charset="-122"/>
                <a:cs typeface="Inter" pitchFamily="34" charset="-120"/>
              </a:rPr>
              <a:t>The best frequency choice is the one that serves the purpose of the signal.</a:t>
            </a:r>
            <a:endParaRPr lang="en-US" sz="1400" dirty="0"/>
          </a:p>
        </p:txBody>
      </p:sp>
      <p:sp>
        <p:nvSpPr>
          <p:cNvPr id="23" name="TextBox 22">
            <a:extLst>
              <a:ext uri="{FF2B5EF4-FFF2-40B4-BE49-F238E27FC236}">
                <a16:creationId xmlns:a16="http://schemas.microsoft.com/office/drawing/2014/main" id="{15FA6AE1-B230-64B6-7E11-2457B4283C8B}"/>
              </a:ext>
            </a:extLst>
          </p:cNvPr>
          <p:cNvSpPr txBox="1"/>
          <p:nvPr/>
        </p:nvSpPr>
        <p:spPr>
          <a:xfrm>
            <a:off x="4571945" y="1201935"/>
            <a:ext cx="4286305" cy="511102"/>
          </a:xfrm>
          <a:prstGeom prst="rect">
            <a:avLst/>
          </a:prstGeom>
          <a:noFill/>
        </p:spPr>
        <p:txBody>
          <a:bodyPr wrap="square">
            <a:spAutoFit/>
          </a:bodyPr>
          <a:lstStyle/>
          <a:p>
            <a:pPr marL="0" indent="0" algn="just">
              <a:lnSpc>
                <a:spcPts val="1700"/>
              </a:lnSpc>
              <a:buNone/>
            </a:pPr>
            <a:r>
              <a:rPr lang="en-US" sz="1100" dirty="0">
                <a:solidFill>
                  <a:srgbClr val="18181B"/>
                </a:solidFill>
                <a:latin typeface="Inter" pitchFamily="34" charset="0"/>
                <a:ea typeface="Inter" pitchFamily="34" charset="-122"/>
                <a:cs typeface="Inter" pitchFamily="34" charset="-120"/>
              </a:rPr>
              <a:t>Removing some high-frequency content may reduce file size or noise, but too much removal can make music and speech sound dull.</a:t>
            </a:r>
            <a:endParaRPr lang="en-US" sz="1100" dirty="0"/>
          </a:p>
        </p:txBody>
      </p:sp>
      <p:sp>
        <p:nvSpPr>
          <p:cNvPr id="24" name="TextBox 23">
            <a:extLst>
              <a:ext uri="{FF2B5EF4-FFF2-40B4-BE49-F238E27FC236}">
                <a16:creationId xmlns:a16="http://schemas.microsoft.com/office/drawing/2014/main" id="{8C09181C-664E-8F0F-2BD4-089903FFEA3D}"/>
              </a:ext>
            </a:extLst>
          </p:cNvPr>
          <p:cNvSpPr txBox="1"/>
          <p:nvPr/>
        </p:nvSpPr>
        <p:spPr>
          <a:xfrm>
            <a:off x="4571944" y="2444245"/>
            <a:ext cx="4286305" cy="511102"/>
          </a:xfrm>
          <a:prstGeom prst="rect">
            <a:avLst/>
          </a:prstGeom>
          <a:noFill/>
        </p:spPr>
        <p:txBody>
          <a:bodyPr wrap="square">
            <a:spAutoFit/>
          </a:bodyPr>
          <a:lstStyle/>
          <a:p>
            <a:pPr marL="0" indent="0">
              <a:lnSpc>
                <a:spcPts val="1700"/>
              </a:lnSpc>
              <a:buNone/>
            </a:pPr>
            <a:r>
              <a:rPr lang="en-US" sz="1100" dirty="0">
                <a:solidFill>
                  <a:srgbClr val="18181B"/>
                </a:solidFill>
                <a:latin typeface="Inter" pitchFamily="34" charset="0"/>
                <a:ea typeface="Inter" pitchFamily="34" charset="-122"/>
                <a:cs typeface="Inter" pitchFamily="34" charset="-120"/>
              </a:rPr>
              <a:t>Smoothing can remove grain and save space, yet too much smoothing also erases edges and fine visual detail.</a:t>
            </a:r>
            <a:endParaRPr lang="en-US" sz="1100" dirty="0"/>
          </a:p>
        </p:txBody>
      </p:sp>
      <p:sp>
        <p:nvSpPr>
          <p:cNvPr id="25" name="TextBox 24">
            <a:extLst>
              <a:ext uri="{FF2B5EF4-FFF2-40B4-BE49-F238E27FC236}">
                <a16:creationId xmlns:a16="http://schemas.microsoft.com/office/drawing/2014/main" id="{8825F6D8-4D1B-BB6A-BED5-F6AE3DA79130}"/>
              </a:ext>
            </a:extLst>
          </p:cNvPr>
          <p:cNvSpPr txBox="1"/>
          <p:nvPr/>
        </p:nvSpPr>
        <p:spPr>
          <a:xfrm>
            <a:off x="4571943" y="3615384"/>
            <a:ext cx="4286305" cy="511102"/>
          </a:xfrm>
          <a:prstGeom prst="rect">
            <a:avLst/>
          </a:prstGeom>
          <a:noFill/>
        </p:spPr>
        <p:txBody>
          <a:bodyPr wrap="square">
            <a:spAutoFit/>
          </a:bodyPr>
          <a:lstStyle/>
          <a:p>
            <a:pPr marL="0" indent="0" algn="just">
              <a:lnSpc>
                <a:spcPts val="1700"/>
              </a:lnSpc>
              <a:buNone/>
            </a:pPr>
            <a:r>
              <a:rPr lang="en-US" sz="1100" dirty="0">
                <a:solidFill>
                  <a:srgbClr val="18181B"/>
                </a:solidFill>
                <a:latin typeface="Inter" pitchFamily="34" charset="0"/>
                <a:ea typeface="Inter" pitchFamily="34" charset="-122"/>
                <a:cs typeface="Inter" pitchFamily="34" charset="-120"/>
              </a:rPr>
              <a:t>Fine detail may contain diagnostically important structure, so aggressive removal can hide exactly what a scientist or clinician needs to see.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754863" cy="5143500"/>
          </a:xfrm>
          <a:prstGeom prst="rect">
            <a:avLst/>
          </a:prstGeom>
          <a:solidFill>
            <a:schemeClr val="tx1"/>
          </a:solidFill>
          <a:ln>
            <a:solidFill>
              <a:schemeClr val="tx1"/>
            </a:solidFill>
          </a:ln>
        </p:spPr>
        <p:txBody>
          <a:bodyPr/>
          <a:lstStyle/>
          <a:p>
            <a:endParaRPr lang="en-US" dirty="0"/>
          </a:p>
        </p:txBody>
      </p:sp>
      <p:sp>
        <p:nvSpPr>
          <p:cNvPr id="4" name="Shape 1"/>
          <p:cNvSpPr/>
          <p:nvPr/>
        </p:nvSpPr>
        <p:spPr>
          <a:xfrm>
            <a:off x="4747720" y="0"/>
            <a:ext cx="7144" cy="5143500"/>
          </a:xfrm>
          <a:prstGeom prst="rect">
            <a:avLst/>
          </a:prstGeom>
          <a:solidFill>
            <a:srgbClr val="18181B"/>
          </a:solidFill>
          <a:ln/>
        </p:spPr>
      </p:sp>
      <p:sp>
        <p:nvSpPr>
          <p:cNvPr id="5" name="Text 2"/>
          <p:cNvSpPr/>
          <p:nvPr/>
        </p:nvSpPr>
        <p:spPr>
          <a:xfrm>
            <a:off x="400050" y="400050"/>
            <a:ext cx="618567" cy="110992"/>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93C5FD"/>
                </a:solidFill>
                <a:latin typeface="IBM Plex Mono" pitchFamily="34" charset="0"/>
                <a:ea typeface="IBM Plex Mono" pitchFamily="34" charset="-122"/>
                <a:cs typeface="IBM Plex Mono" pitchFamily="34" charset="-120"/>
              </a:rPr>
              <a:t>BIG PICTURE</a:t>
            </a:r>
            <a:endParaRPr lang="en-US" sz="727" dirty="0"/>
          </a:p>
        </p:txBody>
      </p:sp>
      <p:sp>
        <p:nvSpPr>
          <p:cNvPr id="6" name="Text 3"/>
          <p:cNvSpPr/>
          <p:nvPr/>
        </p:nvSpPr>
        <p:spPr>
          <a:xfrm>
            <a:off x="400050" y="628650"/>
            <a:ext cx="3178966" cy="1436291"/>
          </a:xfrm>
          <a:prstGeom prst="rect">
            <a:avLst/>
          </a:prstGeom>
          <a:noFill/>
          <a:ln/>
        </p:spPr>
        <p:txBody>
          <a:bodyPr wrap="square" lIns="0" tIns="0" rIns="0" bIns="0" rtlCol="0" anchor="t">
            <a:spAutoFit/>
          </a:bodyPr>
          <a:lstStyle/>
          <a:p>
            <a:pPr marL="0" indent="0">
              <a:lnSpc>
                <a:spcPts val="2800"/>
              </a:lnSpc>
              <a:buNone/>
            </a:pPr>
            <a:r>
              <a:rPr lang="en-US" sz="2400" b="1" dirty="0">
                <a:solidFill>
                  <a:srgbClr val="F4F4F5"/>
                </a:solidFill>
                <a:latin typeface="IBM Plex Mono" pitchFamily="34" charset="0"/>
                <a:ea typeface="IBM Plex Mono" pitchFamily="34" charset="-122"/>
                <a:cs typeface="IBM Plex Mono" pitchFamily="34" charset="-120"/>
              </a:rPr>
              <a:t>Fourier transform is the bridge between events and ingredients</a:t>
            </a:r>
            <a:endParaRPr lang="en-US" sz="2400" dirty="0"/>
          </a:p>
        </p:txBody>
      </p:sp>
      <p:sp>
        <p:nvSpPr>
          <p:cNvPr id="7" name="Text 4"/>
          <p:cNvSpPr/>
          <p:nvPr/>
        </p:nvSpPr>
        <p:spPr>
          <a:xfrm>
            <a:off x="400050" y="2236775"/>
            <a:ext cx="3954763" cy="544060"/>
          </a:xfrm>
          <a:prstGeom prst="rect">
            <a:avLst/>
          </a:prstGeom>
          <a:noFill/>
          <a:ln/>
        </p:spPr>
        <p:txBody>
          <a:bodyPr wrap="square" lIns="0" tIns="0" rIns="0" bIns="0" rtlCol="0" anchor="t">
            <a:spAutoFit/>
          </a:bodyPr>
          <a:lstStyle/>
          <a:p>
            <a:pPr marL="0" indent="0" algn="just">
              <a:lnSpc>
                <a:spcPts val="2200"/>
              </a:lnSpc>
              <a:buNone/>
            </a:pPr>
            <a:r>
              <a:rPr lang="en-US" sz="1600" dirty="0">
                <a:solidFill>
                  <a:srgbClr val="F4F4F5"/>
                </a:solidFill>
                <a:latin typeface="Inter" pitchFamily="34" charset="0"/>
                <a:ea typeface="Inter" pitchFamily="34" charset="-122"/>
                <a:cs typeface="Inter" pitchFamily="34" charset="-120"/>
              </a:rPr>
              <a:t>Time domain shows </a:t>
            </a:r>
            <a:r>
              <a:rPr lang="en-US" sz="1600" b="1" dirty="0">
                <a:solidFill>
                  <a:srgbClr val="FDBA74"/>
                </a:solidFill>
                <a:latin typeface="Inter" pitchFamily="34" charset="0"/>
                <a:ea typeface="Inter" pitchFamily="34" charset="-122"/>
                <a:cs typeface="Inter" pitchFamily="34" charset="-120"/>
              </a:rPr>
              <a:t>what happens</a:t>
            </a:r>
            <a:r>
              <a:rPr lang="en-US" sz="1600" dirty="0">
                <a:solidFill>
                  <a:srgbClr val="F4F4F5"/>
                </a:solidFill>
                <a:latin typeface="Inter" pitchFamily="34" charset="0"/>
                <a:ea typeface="Inter" pitchFamily="34" charset="-122"/>
                <a:cs typeface="Inter" pitchFamily="34" charset="-120"/>
              </a:rPr>
              <a:t>. Frequency domain shows </a:t>
            </a:r>
            <a:r>
              <a:rPr lang="en-US" sz="1600" b="1" dirty="0">
                <a:solidFill>
                  <a:srgbClr val="FDBA74"/>
                </a:solidFill>
                <a:latin typeface="Inter" pitchFamily="34" charset="0"/>
                <a:ea typeface="Inter" pitchFamily="34" charset="-122"/>
                <a:cs typeface="Inter" pitchFamily="34" charset="-120"/>
              </a:rPr>
              <a:t>what the pattern is made of</a:t>
            </a:r>
            <a:r>
              <a:rPr lang="en-US" sz="1600" dirty="0">
                <a:solidFill>
                  <a:srgbClr val="F4F4F5"/>
                </a:solidFill>
                <a:latin typeface="Inter" pitchFamily="34" charset="0"/>
                <a:ea typeface="Inter" pitchFamily="34" charset="-122"/>
                <a:cs typeface="Inter" pitchFamily="34" charset="-120"/>
              </a:rPr>
              <a:t>.</a:t>
            </a:r>
            <a:endParaRPr lang="en-US" sz="1600" dirty="0"/>
          </a:p>
        </p:txBody>
      </p:sp>
      <p:sp>
        <p:nvSpPr>
          <p:cNvPr id="8" name="Shape 5"/>
          <p:cNvSpPr/>
          <p:nvPr/>
        </p:nvSpPr>
        <p:spPr>
          <a:xfrm>
            <a:off x="400050" y="3621881"/>
            <a:ext cx="3954763" cy="1121569"/>
          </a:xfrm>
          <a:prstGeom prst="rect">
            <a:avLst/>
          </a:prstGeom>
          <a:solidFill>
            <a:srgbClr val="000000">
              <a:alpha val="0"/>
            </a:srgbClr>
          </a:solidFill>
          <a:ln/>
        </p:spPr>
      </p:sp>
      <p:sp>
        <p:nvSpPr>
          <p:cNvPr id="9" name="Shape 6"/>
          <p:cNvSpPr/>
          <p:nvPr/>
        </p:nvSpPr>
        <p:spPr>
          <a:xfrm>
            <a:off x="400050" y="3621881"/>
            <a:ext cx="3954763" cy="7144"/>
          </a:xfrm>
          <a:prstGeom prst="rect">
            <a:avLst/>
          </a:prstGeom>
          <a:solidFill>
            <a:srgbClr val="FFFFFF"/>
          </a:solidFill>
          <a:ln/>
        </p:spPr>
      </p:sp>
      <p:sp>
        <p:nvSpPr>
          <p:cNvPr id="10" name="Text 7"/>
          <p:cNvSpPr/>
          <p:nvPr/>
        </p:nvSpPr>
        <p:spPr>
          <a:xfrm>
            <a:off x="400050" y="3621881"/>
            <a:ext cx="3954763" cy="915379"/>
          </a:xfrm>
          <a:prstGeom prst="rect">
            <a:avLst/>
          </a:prstGeom>
          <a:noFill/>
          <a:ln/>
        </p:spPr>
        <p:txBody>
          <a:bodyPr wrap="square" lIns="0" tIns="204089" rIns="0" bIns="0" rtlCol="0" anchor="t">
            <a:spAutoFit/>
          </a:bodyPr>
          <a:lstStyle/>
          <a:p>
            <a:pPr marL="0" indent="0" algn="just">
              <a:lnSpc>
                <a:spcPts val="1900"/>
              </a:lnSpc>
              <a:buNone/>
            </a:pPr>
            <a:r>
              <a:rPr lang="en-US" sz="1159" dirty="0">
                <a:solidFill>
                  <a:srgbClr val="D4D4D8"/>
                </a:solidFill>
                <a:latin typeface="Inter" pitchFamily="34" charset="0"/>
                <a:ea typeface="Inter" pitchFamily="34" charset="-122"/>
                <a:cs typeface="Inter" pitchFamily="34" charset="-120"/>
              </a:rPr>
              <a:t>That is the “aha” moment: one signal can be viewed as a changing event or as a collection of components. Fourier analysis lets us move between those two views.</a:t>
            </a:r>
            <a:endParaRPr lang="en-US" sz="1159" dirty="0"/>
          </a:p>
        </p:txBody>
      </p:sp>
      <p:sp>
        <p:nvSpPr>
          <p:cNvPr id="11" name="Text 8"/>
          <p:cNvSpPr/>
          <p:nvPr/>
        </p:nvSpPr>
        <p:spPr>
          <a:xfrm>
            <a:off x="4638022" y="382623"/>
            <a:ext cx="4622817" cy="155684"/>
          </a:xfrm>
          <a:prstGeom prst="rect">
            <a:avLst/>
          </a:prstGeom>
          <a:noFill/>
          <a:ln/>
        </p:spPr>
        <p:txBody>
          <a:bodyPr wrap="square" lIns="289179" tIns="0" rIns="289179" bIns="0" rtlCol="0" anchor="ctr">
            <a:spAutoFit/>
          </a:bodyPr>
          <a:lstStyle/>
          <a:p>
            <a:pPr marL="0" indent="0" algn="ctr">
              <a:lnSpc>
                <a:spcPts val="1200"/>
              </a:lnSpc>
              <a:buNone/>
            </a:pPr>
            <a:r>
              <a:rPr lang="en-US" sz="1200" b="1" dirty="0">
                <a:solidFill>
                  <a:srgbClr val="0284C7"/>
                </a:solidFill>
                <a:latin typeface="IBM Plex Mono" pitchFamily="34" charset="0"/>
                <a:ea typeface="IBM Plex Mono" pitchFamily="34" charset="-122"/>
                <a:cs typeface="IBM Plex Mono" pitchFamily="34" charset="-120"/>
              </a:rPr>
              <a:t>WHERE THIS IDEA SHOWS UP IN THE REAL WORLD</a:t>
            </a:r>
            <a:endParaRPr lang="en-US" sz="1200" b="1" dirty="0"/>
          </a:p>
        </p:txBody>
      </p:sp>
      <p:sp>
        <p:nvSpPr>
          <p:cNvPr id="12" name="Text 9"/>
          <p:cNvSpPr/>
          <p:nvPr/>
        </p:nvSpPr>
        <p:spPr>
          <a:xfrm>
            <a:off x="4897738" y="928688"/>
            <a:ext cx="1384995"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0284C7"/>
                </a:solidFill>
                <a:latin typeface="IBM Plex Mono" pitchFamily="34" charset="0"/>
                <a:ea typeface="IBM Plex Mono" pitchFamily="34" charset="-122"/>
                <a:cs typeface="IBM Plex Mono" pitchFamily="34" charset="-120"/>
              </a:rPr>
              <a:t>MP3 / AUDIO CODING</a:t>
            </a:r>
            <a:endParaRPr lang="en-US" sz="1000" dirty="0"/>
          </a:p>
        </p:txBody>
      </p:sp>
      <p:sp>
        <p:nvSpPr>
          <p:cNvPr id="13" name="Text 10"/>
          <p:cNvSpPr/>
          <p:nvPr/>
        </p:nvSpPr>
        <p:spPr>
          <a:xfrm>
            <a:off x="4897738" y="1150144"/>
            <a:ext cx="1901661" cy="597984"/>
          </a:xfrm>
          <a:prstGeom prst="rect">
            <a:avLst/>
          </a:prstGeom>
          <a:noFill/>
          <a:ln/>
        </p:spPr>
        <p:txBody>
          <a:bodyPr wrap="square" lIns="0" tIns="0" rIns="0" bIns="0" rtlCol="0" anchor="t">
            <a:spAutoFit/>
          </a:bodyPr>
          <a:lstStyle/>
          <a:p>
            <a:pPr marL="0" indent="0" algn="just">
              <a:lnSpc>
                <a:spcPts val="1600"/>
              </a:lnSpc>
              <a:buNone/>
            </a:pPr>
            <a:r>
              <a:rPr lang="en-US" sz="996" dirty="0">
                <a:solidFill>
                  <a:srgbClr val="3F3F46"/>
                </a:solidFill>
                <a:latin typeface="Inter" pitchFamily="34" charset="0"/>
                <a:ea typeface="Inter" pitchFamily="34" charset="-122"/>
                <a:cs typeface="Inter" pitchFamily="34" charset="-120"/>
              </a:rPr>
              <a:t>Represent sound in frequency components and spend fewer bits on less noticeable detail.</a:t>
            </a:r>
            <a:endParaRPr lang="en-US" sz="996" dirty="0"/>
          </a:p>
        </p:txBody>
      </p:sp>
      <p:sp>
        <p:nvSpPr>
          <p:cNvPr id="14" name="Text 11"/>
          <p:cNvSpPr/>
          <p:nvPr/>
        </p:nvSpPr>
        <p:spPr>
          <a:xfrm>
            <a:off x="7092293" y="928688"/>
            <a:ext cx="1461939"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0284C7"/>
                </a:solidFill>
                <a:latin typeface="IBM Plex Mono" pitchFamily="34" charset="0"/>
                <a:ea typeface="IBM Plex Mono" pitchFamily="34" charset="-122"/>
                <a:cs typeface="IBM Plex Mono" pitchFamily="34" charset="-120"/>
              </a:rPr>
              <a:t>JPEG / IMAGE CODING</a:t>
            </a:r>
            <a:endParaRPr lang="en-US" sz="1000" dirty="0"/>
          </a:p>
        </p:txBody>
      </p:sp>
      <p:sp>
        <p:nvSpPr>
          <p:cNvPr id="15" name="Text 12"/>
          <p:cNvSpPr/>
          <p:nvPr/>
        </p:nvSpPr>
        <p:spPr>
          <a:xfrm>
            <a:off x="7092293" y="1150144"/>
            <a:ext cx="1908804" cy="597984"/>
          </a:xfrm>
          <a:prstGeom prst="rect">
            <a:avLst/>
          </a:prstGeom>
          <a:noFill/>
          <a:ln/>
        </p:spPr>
        <p:txBody>
          <a:bodyPr wrap="square" lIns="0" tIns="0" rIns="0" bIns="0" rtlCol="0" anchor="t">
            <a:spAutoFit/>
          </a:bodyPr>
          <a:lstStyle/>
          <a:p>
            <a:pPr marL="0" indent="0" algn="just">
              <a:lnSpc>
                <a:spcPts val="1600"/>
              </a:lnSpc>
              <a:buNone/>
            </a:pPr>
            <a:r>
              <a:rPr lang="en-US" sz="996" dirty="0">
                <a:solidFill>
                  <a:srgbClr val="3F3F46"/>
                </a:solidFill>
                <a:latin typeface="Inter" pitchFamily="34" charset="0"/>
                <a:ea typeface="Inter" pitchFamily="34" charset="-122"/>
                <a:cs typeface="Inter" pitchFamily="34" charset="-120"/>
              </a:rPr>
              <a:t>Separate coarse structure from fine detail so visual information can be stored efficiently.</a:t>
            </a:r>
            <a:endParaRPr lang="en-US" sz="996" dirty="0"/>
          </a:p>
        </p:txBody>
      </p:sp>
      <p:sp>
        <p:nvSpPr>
          <p:cNvPr id="16" name="Text 13"/>
          <p:cNvSpPr/>
          <p:nvPr/>
        </p:nvSpPr>
        <p:spPr>
          <a:xfrm>
            <a:off x="4897738" y="2157413"/>
            <a:ext cx="1154162"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0284C7"/>
                </a:solidFill>
                <a:latin typeface="IBM Plex Mono" pitchFamily="34" charset="0"/>
                <a:ea typeface="IBM Plex Mono" pitchFamily="34" charset="-122"/>
                <a:cs typeface="IBM Plex Mono" pitchFamily="34" charset="-120"/>
              </a:rPr>
              <a:t>NOISE FILTERING</a:t>
            </a:r>
            <a:endParaRPr lang="en-US" sz="1000" dirty="0"/>
          </a:p>
        </p:txBody>
      </p:sp>
      <p:sp>
        <p:nvSpPr>
          <p:cNvPr id="17" name="Text 14"/>
          <p:cNvSpPr/>
          <p:nvPr/>
        </p:nvSpPr>
        <p:spPr>
          <a:xfrm>
            <a:off x="4897738" y="2378869"/>
            <a:ext cx="1901661" cy="597984"/>
          </a:xfrm>
          <a:prstGeom prst="rect">
            <a:avLst/>
          </a:prstGeom>
          <a:noFill/>
          <a:ln/>
        </p:spPr>
        <p:txBody>
          <a:bodyPr wrap="square" lIns="0" tIns="0" rIns="0" bIns="0" rtlCol="0" anchor="t">
            <a:spAutoFit/>
          </a:bodyPr>
          <a:lstStyle/>
          <a:p>
            <a:pPr marL="0" indent="0" algn="just">
              <a:lnSpc>
                <a:spcPts val="1600"/>
              </a:lnSpc>
              <a:buNone/>
            </a:pPr>
            <a:r>
              <a:rPr lang="en-US" sz="996" dirty="0">
                <a:solidFill>
                  <a:srgbClr val="3F3F46"/>
                </a:solidFill>
                <a:latin typeface="Inter" pitchFamily="34" charset="0"/>
                <a:ea typeface="Inter" pitchFamily="34" charset="-122"/>
                <a:cs typeface="Inter" pitchFamily="34" charset="-120"/>
              </a:rPr>
              <a:t>Reduce unwanted ranges while preserving the frequencies most relevant to the task.</a:t>
            </a:r>
            <a:endParaRPr lang="en-US" sz="996" dirty="0"/>
          </a:p>
        </p:txBody>
      </p:sp>
      <p:sp>
        <p:nvSpPr>
          <p:cNvPr id="18" name="Text 15"/>
          <p:cNvSpPr/>
          <p:nvPr/>
        </p:nvSpPr>
        <p:spPr>
          <a:xfrm>
            <a:off x="7092293" y="2157413"/>
            <a:ext cx="1000274"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0284C7"/>
                </a:solidFill>
                <a:latin typeface="IBM Plex Mono" pitchFamily="34" charset="0"/>
                <a:ea typeface="IBM Plex Mono" pitchFamily="34" charset="-122"/>
                <a:cs typeface="IBM Plex Mono" pitchFamily="34" charset="-120"/>
              </a:rPr>
              <a:t>MRI &amp; IMAGING</a:t>
            </a:r>
            <a:endParaRPr lang="en-US" sz="1000" dirty="0"/>
          </a:p>
        </p:txBody>
      </p:sp>
      <p:sp>
        <p:nvSpPr>
          <p:cNvPr id="19" name="Text 16"/>
          <p:cNvSpPr/>
          <p:nvPr/>
        </p:nvSpPr>
        <p:spPr>
          <a:xfrm>
            <a:off x="7092293" y="2378869"/>
            <a:ext cx="1908804" cy="597984"/>
          </a:xfrm>
          <a:prstGeom prst="rect">
            <a:avLst/>
          </a:prstGeom>
          <a:noFill/>
          <a:ln/>
        </p:spPr>
        <p:txBody>
          <a:bodyPr wrap="square" lIns="0" tIns="0" rIns="0" bIns="0" rtlCol="0" anchor="t">
            <a:spAutoFit/>
          </a:bodyPr>
          <a:lstStyle/>
          <a:p>
            <a:pPr marL="0" indent="0" algn="just">
              <a:lnSpc>
                <a:spcPts val="1600"/>
              </a:lnSpc>
              <a:buNone/>
            </a:pPr>
            <a:r>
              <a:rPr lang="en-US" sz="996" dirty="0">
                <a:solidFill>
                  <a:srgbClr val="3F3F46"/>
                </a:solidFill>
                <a:latin typeface="Inter" pitchFamily="34" charset="0"/>
                <a:ea typeface="Inter" pitchFamily="34" charset="-122"/>
                <a:cs typeface="Inter" pitchFamily="34" charset="-120"/>
              </a:rPr>
              <a:t>Frequency-based representations help reconstruct and analyze complex measured signals.</a:t>
            </a:r>
            <a:endParaRPr lang="en-US" sz="996" dirty="0"/>
          </a:p>
        </p:txBody>
      </p:sp>
      <p:sp>
        <p:nvSpPr>
          <p:cNvPr id="20" name="Text 17"/>
          <p:cNvSpPr/>
          <p:nvPr/>
        </p:nvSpPr>
        <p:spPr>
          <a:xfrm>
            <a:off x="4897738" y="3386138"/>
            <a:ext cx="1077218"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0284C7"/>
                </a:solidFill>
                <a:latin typeface="IBM Plex Mono" pitchFamily="34" charset="0"/>
                <a:ea typeface="IBM Plex Mono" pitchFamily="34" charset="-122"/>
                <a:cs typeface="IBM Plex Mono" pitchFamily="34" charset="-120"/>
              </a:rPr>
              <a:t>COMMUNICATIONS</a:t>
            </a:r>
            <a:endParaRPr lang="en-US" sz="1000" dirty="0"/>
          </a:p>
        </p:txBody>
      </p:sp>
      <p:sp>
        <p:nvSpPr>
          <p:cNvPr id="21" name="Text 18"/>
          <p:cNvSpPr/>
          <p:nvPr/>
        </p:nvSpPr>
        <p:spPr>
          <a:xfrm>
            <a:off x="4897738" y="3607594"/>
            <a:ext cx="1901661" cy="597984"/>
          </a:xfrm>
          <a:prstGeom prst="rect">
            <a:avLst/>
          </a:prstGeom>
          <a:noFill/>
          <a:ln/>
        </p:spPr>
        <p:txBody>
          <a:bodyPr wrap="square" lIns="0" tIns="0" rIns="0" bIns="0" rtlCol="0" anchor="t">
            <a:spAutoFit/>
          </a:bodyPr>
          <a:lstStyle/>
          <a:p>
            <a:pPr marL="0" indent="0" algn="just">
              <a:lnSpc>
                <a:spcPts val="1600"/>
              </a:lnSpc>
              <a:buNone/>
            </a:pPr>
            <a:r>
              <a:rPr lang="en-US" sz="996" dirty="0">
                <a:solidFill>
                  <a:srgbClr val="3F3F46"/>
                </a:solidFill>
                <a:latin typeface="Inter" pitchFamily="34" charset="0"/>
                <a:ea typeface="Inter" pitchFamily="34" charset="-122"/>
                <a:cs typeface="Inter" pitchFamily="34" charset="-120"/>
              </a:rPr>
              <a:t>Understand bandwidth, interference, and how systems affect different signal components.</a:t>
            </a:r>
            <a:endParaRPr lang="en-US" sz="996" dirty="0"/>
          </a:p>
        </p:txBody>
      </p:sp>
      <p:sp>
        <p:nvSpPr>
          <p:cNvPr id="22" name="Text 19"/>
          <p:cNvSpPr/>
          <p:nvPr/>
        </p:nvSpPr>
        <p:spPr>
          <a:xfrm>
            <a:off x="7092293" y="3386138"/>
            <a:ext cx="538609"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0284C7"/>
                </a:solidFill>
                <a:latin typeface="IBM Plex Mono" pitchFamily="34" charset="0"/>
                <a:ea typeface="IBM Plex Mono" pitchFamily="34" charset="-122"/>
                <a:cs typeface="IBM Plex Mono" pitchFamily="34" charset="-120"/>
              </a:rPr>
              <a:t>PHYSICS</a:t>
            </a:r>
            <a:endParaRPr lang="en-US" sz="1000" dirty="0"/>
          </a:p>
        </p:txBody>
      </p:sp>
      <p:sp>
        <p:nvSpPr>
          <p:cNvPr id="23" name="Text 20"/>
          <p:cNvSpPr/>
          <p:nvPr/>
        </p:nvSpPr>
        <p:spPr>
          <a:xfrm>
            <a:off x="7092293" y="3607594"/>
            <a:ext cx="1908804" cy="597984"/>
          </a:xfrm>
          <a:prstGeom prst="rect">
            <a:avLst/>
          </a:prstGeom>
          <a:noFill/>
          <a:ln/>
        </p:spPr>
        <p:txBody>
          <a:bodyPr wrap="square" lIns="0" tIns="0" rIns="0" bIns="0" rtlCol="0" anchor="t">
            <a:spAutoFit/>
          </a:bodyPr>
          <a:lstStyle/>
          <a:p>
            <a:pPr marL="0" indent="0" algn="just">
              <a:lnSpc>
                <a:spcPts val="1600"/>
              </a:lnSpc>
              <a:buNone/>
            </a:pPr>
            <a:r>
              <a:rPr lang="en-US" sz="996" dirty="0">
                <a:solidFill>
                  <a:srgbClr val="3F3F46"/>
                </a:solidFill>
                <a:latin typeface="Inter" pitchFamily="34" charset="0"/>
                <a:ea typeface="Inter" pitchFamily="34" charset="-122"/>
                <a:cs typeface="Inter" pitchFamily="34" charset="-120"/>
              </a:rPr>
              <a:t>Study heat, waves, vibrations, and many other evolving patterns through simpler modes.</a:t>
            </a:r>
            <a:endParaRPr lang="en-US" sz="996" dirty="0"/>
          </a:p>
        </p:txBody>
      </p:sp>
      <p:sp>
        <p:nvSpPr>
          <p:cNvPr id="24" name="Text 21"/>
          <p:cNvSpPr/>
          <p:nvPr/>
        </p:nvSpPr>
        <p:spPr>
          <a:xfrm>
            <a:off x="5072979" y="4610025"/>
            <a:ext cx="850598" cy="413255"/>
          </a:xfrm>
          <a:prstGeom prst="rect">
            <a:avLst/>
          </a:prstGeom>
          <a:noFill/>
          <a:ln/>
        </p:spPr>
        <p:txBody>
          <a:bodyPr wrap="square" lIns="0" tIns="0" rIns="0" bIns="0" rtlCol="0" anchor="t">
            <a:spAutoFit/>
          </a:bodyPr>
          <a:lstStyle/>
          <a:p>
            <a:pPr marL="0" indent="0" algn="ctr">
              <a:lnSpc>
                <a:spcPts val="1600"/>
              </a:lnSpc>
              <a:buNone/>
            </a:pPr>
            <a:r>
              <a:rPr lang="en-US" sz="1600" b="1" dirty="0">
                <a:solidFill>
                  <a:srgbClr val="18181B"/>
                </a:solidFill>
                <a:latin typeface="Inter" pitchFamily="34" charset="0"/>
                <a:ea typeface="Inter" pitchFamily="34" charset="-122"/>
                <a:cs typeface="Inter" pitchFamily="34" charset="-120"/>
              </a:rPr>
              <a:t>Final Thought:</a:t>
            </a:r>
            <a:endParaRPr lang="en-US" sz="1600" dirty="0"/>
          </a:p>
        </p:txBody>
      </p:sp>
      <p:sp>
        <p:nvSpPr>
          <p:cNvPr id="25" name="Text 22"/>
          <p:cNvSpPr/>
          <p:nvPr/>
        </p:nvSpPr>
        <p:spPr>
          <a:xfrm>
            <a:off x="5923567" y="4604147"/>
            <a:ext cx="3048955" cy="396327"/>
          </a:xfrm>
          <a:prstGeom prst="rect">
            <a:avLst/>
          </a:prstGeom>
          <a:noFill/>
          <a:ln/>
        </p:spPr>
        <p:txBody>
          <a:bodyPr wrap="square" lIns="0" tIns="0" rIns="0" bIns="0" rtlCol="0" anchor="t">
            <a:spAutoFit/>
          </a:bodyPr>
          <a:lstStyle/>
          <a:p>
            <a:pPr marL="0" indent="0" algn="ctr">
              <a:lnSpc>
                <a:spcPts val="1600"/>
              </a:lnSpc>
              <a:buNone/>
            </a:pPr>
            <a:r>
              <a:rPr lang="en-US" sz="1100" dirty="0">
                <a:solidFill>
                  <a:srgbClr val="3F3F46"/>
                </a:solidFill>
                <a:latin typeface="Inter" pitchFamily="34" charset="0"/>
                <a:ea typeface="Inter" pitchFamily="34" charset="-122"/>
                <a:cs typeface="Inter" pitchFamily="34" charset="-120"/>
              </a:rPr>
              <a:t>The frequency domain matters because it turns tangled patterns into understandable structure.</a:t>
            </a:r>
            <a:endParaRPr lang="en-US" sz="1100" dirty="0"/>
          </a:p>
        </p:txBody>
      </p:sp>
      <p:cxnSp>
        <p:nvCxnSpPr>
          <p:cNvPr id="27" name="Straight Connector 26">
            <a:extLst>
              <a:ext uri="{FF2B5EF4-FFF2-40B4-BE49-F238E27FC236}">
                <a16:creationId xmlns:a16="http://schemas.microsoft.com/office/drawing/2014/main" id="{AC2DB984-44A2-4A34-272F-295A174E77A1}"/>
              </a:ext>
            </a:extLst>
          </p:cNvPr>
          <p:cNvCxnSpPr/>
          <p:nvPr/>
        </p:nvCxnSpPr>
        <p:spPr>
          <a:xfrm>
            <a:off x="4754863" y="788894"/>
            <a:ext cx="4389137" cy="0"/>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TotalTime>
  <Words>1756</Words>
  <Application>Microsoft Macintosh PowerPoint</Application>
  <PresentationFormat>On-screen Show (16:9)</PresentationFormat>
  <Paragraphs>193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Inter</vt:lpstr>
      <vt:lpstr>Arial</vt:lpstr>
      <vt:lpstr>Calibri</vt:lpstr>
      <vt:lpstr>IBM Plex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 Chee Xiang</cp:lastModifiedBy>
  <cp:revision>55</cp:revision>
  <dcterms:created xsi:type="dcterms:W3CDTF">2026-04-10T04:29:31Z</dcterms:created>
  <dcterms:modified xsi:type="dcterms:W3CDTF">2026-04-10T07:36:22Z</dcterms:modified>
</cp:coreProperties>
</file>